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3" r:id="rId5"/>
    <p:sldId id="261" r:id="rId6"/>
    <p:sldId id="264" r:id="rId7"/>
    <p:sldId id="260" r:id="rId8"/>
    <p:sldId id="265" r:id="rId9"/>
    <p:sldId id="266" r:id="rId10"/>
    <p:sldId id="267" r:id="rId11"/>
    <p:sldId id="273" r:id="rId12"/>
    <p:sldId id="268" r:id="rId13"/>
    <p:sldId id="275" r:id="rId14"/>
    <p:sldId id="269" r:id="rId15"/>
    <p:sldId id="276" r:id="rId16"/>
    <p:sldId id="270" r:id="rId17"/>
    <p:sldId id="277" r:id="rId18"/>
    <p:sldId id="271" r:id="rId19"/>
    <p:sldId id="278"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hani Sahoo" initials="SS" lastIdx="1" clrIdx="0">
    <p:extLst>
      <p:ext uri="{19B8F6BF-5375-455C-9EA6-DF929625EA0E}">
        <p15:presenceInfo xmlns:p15="http://schemas.microsoft.com/office/powerpoint/2012/main" userId="c9bf88a057fee4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41414"/>
    <a:srgbClr val="FFE600"/>
    <a:srgbClr val="E6E6E6"/>
    <a:srgbClr val="BFBFBF"/>
    <a:srgbClr val="0D0D0D"/>
    <a:srgbClr val="2A2A2A"/>
    <a:srgbClr val="CFCFCF"/>
    <a:srgbClr val="00FFB3"/>
    <a:srgbClr val="FF6B6B"/>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68" autoAdjust="0"/>
    <p:restoredTop sz="94660"/>
  </p:normalViewPr>
  <p:slideViewPr>
    <p:cSldViewPr snapToGrid="0">
      <p:cViewPr varScale="1">
        <p:scale>
          <a:sx n="58" d="100"/>
          <a:sy n="58" d="100"/>
        </p:scale>
        <p:origin x="67" y="5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5EF180-4E12-4AE2-A2B2-1FFCE0D324A4}" type="datetimeFigureOut">
              <a:rPr lang="en-IN" smtClean="0"/>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A2B426-A320-4A3F-BB3D-0F2220F0B26E}" type="slidenum">
              <a:rPr lang="en-IN" smtClean="0"/>
              <a:t>‹#›</a:t>
            </a:fld>
            <a:endParaRPr lang="en-IN"/>
          </a:p>
        </p:txBody>
      </p:sp>
    </p:spTree>
    <p:extLst>
      <p:ext uri="{BB962C8B-B14F-4D97-AF65-F5344CB8AC3E}">
        <p14:creationId xmlns:p14="http://schemas.microsoft.com/office/powerpoint/2010/main" val="3207639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A2B426-A320-4A3F-BB3D-0F2220F0B26E}" type="slidenum">
              <a:rPr lang="en-IN" smtClean="0"/>
              <a:t>3</a:t>
            </a:fld>
            <a:endParaRPr lang="en-IN"/>
          </a:p>
        </p:txBody>
      </p:sp>
    </p:spTree>
    <p:extLst>
      <p:ext uri="{BB962C8B-B14F-4D97-AF65-F5344CB8AC3E}">
        <p14:creationId xmlns:p14="http://schemas.microsoft.com/office/powerpoint/2010/main" val="301112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DF1D-A9D0-6AF2-288D-40F3BC75C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68E5B-3698-4515-1D91-89CE6BA027C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A01F60A-CFC9-6A57-A312-D6127A9F36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2BF6D5-6418-AC3A-F859-6B5B8C012150}"/>
              </a:ext>
            </a:extLst>
          </p:cNvPr>
          <p:cNvSpPr>
            <a:spLocks noGrp="1"/>
          </p:cNvSpPr>
          <p:nvPr>
            <p:ph type="sldNum" sz="quarter" idx="5"/>
          </p:nvPr>
        </p:nvSpPr>
        <p:spPr/>
        <p:txBody>
          <a:bodyPr/>
          <a:lstStyle/>
          <a:p>
            <a:fld id="{93A2B426-A320-4A3F-BB3D-0F2220F0B26E}" type="slidenum">
              <a:rPr lang="en-IN" smtClean="0"/>
              <a:t>5</a:t>
            </a:fld>
            <a:endParaRPr lang="en-IN"/>
          </a:p>
        </p:txBody>
      </p:sp>
    </p:spTree>
    <p:extLst>
      <p:ext uri="{BB962C8B-B14F-4D97-AF65-F5344CB8AC3E}">
        <p14:creationId xmlns:p14="http://schemas.microsoft.com/office/powerpoint/2010/main" val="4131055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0280C-F984-74FF-2A70-61F32041D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16417-2EE4-EA71-E84A-F4A2C3FEE10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62C55A1-AD99-ED1B-5758-AF833E58A4B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BB40C5-FCC1-3033-D5A3-C7819A2AC2C1}"/>
              </a:ext>
            </a:extLst>
          </p:cNvPr>
          <p:cNvSpPr>
            <a:spLocks noGrp="1"/>
          </p:cNvSpPr>
          <p:nvPr>
            <p:ph type="sldNum" sz="quarter" idx="5"/>
          </p:nvPr>
        </p:nvSpPr>
        <p:spPr/>
        <p:txBody>
          <a:bodyPr/>
          <a:lstStyle/>
          <a:p>
            <a:fld id="{93A2B426-A320-4A3F-BB3D-0F2220F0B26E}" type="slidenum">
              <a:rPr lang="en-IN" smtClean="0"/>
              <a:t>9</a:t>
            </a:fld>
            <a:endParaRPr lang="en-IN"/>
          </a:p>
        </p:txBody>
      </p:sp>
    </p:spTree>
    <p:extLst>
      <p:ext uri="{BB962C8B-B14F-4D97-AF65-F5344CB8AC3E}">
        <p14:creationId xmlns:p14="http://schemas.microsoft.com/office/powerpoint/2010/main" val="2740863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A2B426-A320-4A3F-BB3D-0F2220F0B26E}" type="slidenum">
              <a:rPr lang="en-IN" smtClean="0"/>
              <a:t>11</a:t>
            </a:fld>
            <a:endParaRPr lang="en-IN"/>
          </a:p>
        </p:txBody>
      </p:sp>
    </p:spTree>
    <p:extLst>
      <p:ext uri="{BB962C8B-B14F-4D97-AF65-F5344CB8AC3E}">
        <p14:creationId xmlns:p14="http://schemas.microsoft.com/office/powerpoint/2010/main" val="2579806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0ECAB-CA36-8239-7840-413E37FE6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CE514-A8D3-86C8-F74E-3EF327D36B0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8DD222C-5CFA-4B18-18DE-4D41FA66AF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CA57C3-D49A-355B-1446-C0C8A40EA41B}"/>
              </a:ext>
            </a:extLst>
          </p:cNvPr>
          <p:cNvSpPr>
            <a:spLocks noGrp="1"/>
          </p:cNvSpPr>
          <p:nvPr>
            <p:ph type="sldNum" sz="quarter" idx="5"/>
          </p:nvPr>
        </p:nvSpPr>
        <p:spPr/>
        <p:txBody>
          <a:bodyPr/>
          <a:lstStyle/>
          <a:p>
            <a:fld id="{93A2B426-A320-4A3F-BB3D-0F2220F0B26E}" type="slidenum">
              <a:rPr lang="en-IN" smtClean="0"/>
              <a:t>13</a:t>
            </a:fld>
            <a:endParaRPr lang="en-IN"/>
          </a:p>
        </p:txBody>
      </p:sp>
    </p:spTree>
    <p:extLst>
      <p:ext uri="{BB962C8B-B14F-4D97-AF65-F5344CB8AC3E}">
        <p14:creationId xmlns:p14="http://schemas.microsoft.com/office/powerpoint/2010/main" val="3025407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246D8-D1CF-DA49-33A7-AC1B26005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E7728-AB47-0370-7C82-B7D2B47650A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3FA1D9D-2D91-D47C-19F4-620CDAE43C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781348F-C8CE-14F6-53D0-40584C3FFCDA}"/>
              </a:ext>
            </a:extLst>
          </p:cNvPr>
          <p:cNvSpPr>
            <a:spLocks noGrp="1"/>
          </p:cNvSpPr>
          <p:nvPr>
            <p:ph type="sldNum" sz="quarter" idx="5"/>
          </p:nvPr>
        </p:nvSpPr>
        <p:spPr/>
        <p:txBody>
          <a:bodyPr/>
          <a:lstStyle/>
          <a:p>
            <a:fld id="{93A2B426-A320-4A3F-BB3D-0F2220F0B26E}" type="slidenum">
              <a:rPr lang="en-IN" smtClean="0"/>
              <a:t>15</a:t>
            </a:fld>
            <a:endParaRPr lang="en-IN"/>
          </a:p>
        </p:txBody>
      </p:sp>
    </p:spTree>
    <p:extLst>
      <p:ext uri="{BB962C8B-B14F-4D97-AF65-F5344CB8AC3E}">
        <p14:creationId xmlns:p14="http://schemas.microsoft.com/office/powerpoint/2010/main" val="470459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0981-985C-D726-7082-8128D2C48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9E9797-A5BA-145A-D583-CC9FAD9BB40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768EF26-60FE-0A48-77F6-EDC0F7D5F9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917E1E0-A544-F9AE-DC5F-0024377906CD}"/>
              </a:ext>
            </a:extLst>
          </p:cNvPr>
          <p:cNvSpPr>
            <a:spLocks noGrp="1"/>
          </p:cNvSpPr>
          <p:nvPr>
            <p:ph type="sldNum" sz="quarter" idx="5"/>
          </p:nvPr>
        </p:nvSpPr>
        <p:spPr/>
        <p:txBody>
          <a:bodyPr/>
          <a:lstStyle/>
          <a:p>
            <a:fld id="{93A2B426-A320-4A3F-BB3D-0F2220F0B26E}" type="slidenum">
              <a:rPr lang="en-IN" smtClean="0"/>
              <a:t>17</a:t>
            </a:fld>
            <a:endParaRPr lang="en-IN"/>
          </a:p>
        </p:txBody>
      </p:sp>
    </p:spTree>
    <p:extLst>
      <p:ext uri="{BB962C8B-B14F-4D97-AF65-F5344CB8AC3E}">
        <p14:creationId xmlns:p14="http://schemas.microsoft.com/office/powerpoint/2010/main" val="3063594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11D83-5A9B-8CA2-B354-09E0120AF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F2383-5EE0-12FC-9952-209FE5B3F32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3688AE6-970F-914D-2D57-DC70F21DBC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E1183A-1567-4B62-8A31-8981085CDD2F}"/>
              </a:ext>
            </a:extLst>
          </p:cNvPr>
          <p:cNvSpPr>
            <a:spLocks noGrp="1"/>
          </p:cNvSpPr>
          <p:nvPr>
            <p:ph type="sldNum" sz="quarter" idx="5"/>
          </p:nvPr>
        </p:nvSpPr>
        <p:spPr/>
        <p:txBody>
          <a:bodyPr/>
          <a:lstStyle/>
          <a:p>
            <a:fld id="{93A2B426-A320-4A3F-BB3D-0F2220F0B26E}" type="slidenum">
              <a:rPr lang="en-IN" smtClean="0"/>
              <a:t>19</a:t>
            </a:fld>
            <a:endParaRPr lang="en-IN"/>
          </a:p>
        </p:txBody>
      </p:sp>
    </p:spTree>
    <p:extLst>
      <p:ext uri="{BB962C8B-B14F-4D97-AF65-F5344CB8AC3E}">
        <p14:creationId xmlns:p14="http://schemas.microsoft.com/office/powerpoint/2010/main" val="3639384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DED14-9AFC-CAF9-2451-5AC9208BAF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304CD4-4A51-8267-57DC-6837B45209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477D13-0DDE-A24C-6A89-D9ED63A07D20}"/>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5" name="Footer Placeholder 4">
            <a:extLst>
              <a:ext uri="{FF2B5EF4-FFF2-40B4-BE49-F238E27FC236}">
                <a16:creationId xmlns:a16="http://schemas.microsoft.com/office/drawing/2014/main" id="{16F99168-8D53-8D8C-2A8F-44AA131AA0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A783A6-056E-B85C-FCAB-4BD666A1871D}"/>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2264598968"/>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3E76-73DF-938D-51D7-96FFB2D21D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A51F72-8BC3-9155-FD65-4FD4A99CAA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4CF38-24F4-5CF3-FCFC-FE9C6DBECCF4}"/>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5" name="Footer Placeholder 4">
            <a:extLst>
              <a:ext uri="{FF2B5EF4-FFF2-40B4-BE49-F238E27FC236}">
                <a16:creationId xmlns:a16="http://schemas.microsoft.com/office/drawing/2014/main" id="{8020AAF1-9C4F-507E-318E-61C0F10850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EA913F-3304-5899-B044-15D6035D7006}"/>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1635751660"/>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24377-E8A3-20B1-64C3-BB4F1B2456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CCA121-90C4-94B0-B239-38584D3949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3F35BB-2F51-3A7A-D729-7F66DB9C2886}"/>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5" name="Footer Placeholder 4">
            <a:extLst>
              <a:ext uri="{FF2B5EF4-FFF2-40B4-BE49-F238E27FC236}">
                <a16:creationId xmlns:a16="http://schemas.microsoft.com/office/drawing/2014/main" id="{DF07FDF1-11FF-0C40-7EC6-1EE2814C1F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D05DE4-915F-3AB2-FD91-C2A86AE3CAB8}"/>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518918997"/>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EFCCE-B529-844B-6568-C012B4D455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2B2460-D86D-C250-B2F5-CA514466F5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691589-C0B3-5A50-E18F-7956577FE5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D0FD58-701F-3052-7B2C-4FDA09AFF12B}"/>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6" name="Footer Placeholder 5">
            <a:extLst>
              <a:ext uri="{FF2B5EF4-FFF2-40B4-BE49-F238E27FC236}">
                <a16:creationId xmlns:a16="http://schemas.microsoft.com/office/drawing/2014/main" id="{33B4F2A2-4EDE-8B96-1DBD-C78FEF69A2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FCB7D3-FB7E-54F7-3599-E82983EE6C5B}"/>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3701053569"/>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B4645-D598-72D7-BE72-65272754BB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F4F4D0-8D40-A35B-689F-86C5E2A0B9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6FD753-8041-76FE-42F9-94420BDD17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14B57C-E91C-F310-2563-406DE95A8D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F8D8CE-103E-84AA-5FFC-F58A32B0BC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7097BB-91F4-5C9E-DDAF-742B456FC648}"/>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8" name="Footer Placeholder 7">
            <a:extLst>
              <a:ext uri="{FF2B5EF4-FFF2-40B4-BE49-F238E27FC236}">
                <a16:creationId xmlns:a16="http://schemas.microsoft.com/office/drawing/2014/main" id="{77F8CD12-C8B5-BB99-C8F5-A5418DC680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B1CB8C-1C6E-619B-927F-6B788022D5F8}"/>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3936417747"/>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45EE9-30E0-3B45-A7B7-20CDA66668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6434B01-43EE-FDEE-E925-F2FCBBFA6746}"/>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4" name="Footer Placeholder 3">
            <a:extLst>
              <a:ext uri="{FF2B5EF4-FFF2-40B4-BE49-F238E27FC236}">
                <a16:creationId xmlns:a16="http://schemas.microsoft.com/office/drawing/2014/main" id="{D0C55B7B-6614-7A4D-2D83-9171025E2E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FEBC1D-79A4-FA4C-F9DC-03F50457E06D}"/>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2597269828"/>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8E921E-C86D-6C7C-7CE8-0483784A7749}"/>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3" name="Footer Placeholder 2">
            <a:extLst>
              <a:ext uri="{FF2B5EF4-FFF2-40B4-BE49-F238E27FC236}">
                <a16:creationId xmlns:a16="http://schemas.microsoft.com/office/drawing/2014/main" id="{2568E04B-6820-247B-B795-97CD8DDED4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AE47D7-23FB-DACA-C729-9A2A09FD909C}"/>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2422764079"/>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A088-04EF-94CE-A3E1-19518F3AE8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51CEDF6-1656-C247-ADFB-FD85AB372D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0970E5-17B7-0336-FE4B-B21400D0A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90F60-7F97-5673-5A6A-19E225167FB7}"/>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6" name="Footer Placeholder 5">
            <a:extLst>
              <a:ext uri="{FF2B5EF4-FFF2-40B4-BE49-F238E27FC236}">
                <a16:creationId xmlns:a16="http://schemas.microsoft.com/office/drawing/2014/main" id="{88EA99D1-391D-E500-D809-97C957D8BB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EFAB34-6CF2-CF64-E332-822030453D6A}"/>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820818662"/>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266EA-9EE7-A130-7FFD-94F49ED9B7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25A2DD-BAB7-2846-F93A-4804CF8854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1E04EB-90EC-72E1-6892-5E1E656DB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7CE11-B170-7D5C-D613-458B83C7BE68}"/>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6" name="Footer Placeholder 5">
            <a:extLst>
              <a:ext uri="{FF2B5EF4-FFF2-40B4-BE49-F238E27FC236}">
                <a16:creationId xmlns:a16="http://schemas.microsoft.com/office/drawing/2014/main" id="{F7ACDAE8-72E1-4CBE-64AE-60CA001429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7067DD-C982-D4C9-90A0-E86C214D2C43}"/>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4052851619"/>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8AC33-94AE-6D6C-F9FE-965CAF2746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2173BF-1866-CD3D-EC5A-C3676692B0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8F4F43-1CCD-50BB-A069-687172B2BEFD}"/>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5" name="Footer Placeholder 4">
            <a:extLst>
              <a:ext uri="{FF2B5EF4-FFF2-40B4-BE49-F238E27FC236}">
                <a16:creationId xmlns:a16="http://schemas.microsoft.com/office/drawing/2014/main" id="{F6FB12FF-FCD5-C9DF-1043-A2D5B0FFB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DDAA03-F94D-0953-4EC5-4F6FEABDF03C}"/>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1735768310"/>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0360AE-A07E-61DB-ED1E-58ED236314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E7AD4F-BC13-A58B-5825-A5EA78697B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09A167-6BC0-C234-B256-014F80B52769}"/>
              </a:ext>
            </a:extLst>
          </p:cNvPr>
          <p:cNvSpPr>
            <a:spLocks noGrp="1"/>
          </p:cNvSpPr>
          <p:nvPr>
            <p:ph type="dt" sz="half" idx="10"/>
          </p:nvPr>
        </p:nvSpPr>
        <p:spPr/>
        <p:txBody>
          <a:bodyPr/>
          <a:lstStyle/>
          <a:p>
            <a:fld id="{296FD2A8-CAE3-4858-BAC8-27A592D2EFFD}" type="datetimeFigureOut">
              <a:rPr lang="en-IN" smtClean="0"/>
              <a:t>18-04-2026</a:t>
            </a:fld>
            <a:endParaRPr lang="en-IN"/>
          </a:p>
        </p:txBody>
      </p:sp>
      <p:sp>
        <p:nvSpPr>
          <p:cNvPr id="5" name="Footer Placeholder 4">
            <a:extLst>
              <a:ext uri="{FF2B5EF4-FFF2-40B4-BE49-F238E27FC236}">
                <a16:creationId xmlns:a16="http://schemas.microsoft.com/office/drawing/2014/main" id="{467DA70D-289A-C12E-7BC4-2B410AA9DE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BBBF49-F97C-6F3A-000A-9CBDE225E1F7}"/>
              </a:ext>
            </a:extLst>
          </p:cNvPr>
          <p:cNvSpPr>
            <a:spLocks noGrp="1"/>
          </p:cNvSpPr>
          <p:nvPr>
            <p:ph type="sldNum" sz="quarter" idx="12"/>
          </p:nvPr>
        </p:nvSpPr>
        <p:spPr/>
        <p:txBody>
          <a:bodyPr/>
          <a:lstStyle/>
          <a:p>
            <a:fld id="{09693F70-EB63-4A5E-9D6B-1709907E8E95}" type="slidenum">
              <a:rPr lang="en-IN" smtClean="0"/>
              <a:t>‹#›</a:t>
            </a:fld>
            <a:endParaRPr lang="en-IN"/>
          </a:p>
        </p:txBody>
      </p:sp>
    </p:spTree>
    <p:extLst>
      <p:ext uri="{BB962C8B-B14F-4D97-AF65-F5344CB8AC3E}">
        <p14:creationId xmlns:p14="http://schemas.microsoft.com/office/powerpoint/2010/main" val="513059206"/>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159BC6-9ACD-5E9C-BE64-2088D69AD8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E46C0A-67B5-0899-0208-0FA7AD5041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78637D-ACA2-4E19-9044-F7B1DE937B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6FD2A8-CAE3-4858-BAC8-27A592D2EFFD}" type="datetimeFigureOut">
              <a:rPr lang="en-IN" smtClean="0"/>
              <a:t>18-04-2026</a:t>
            </a:fld>
            <a:endParaRPr lang="en-IN"/>
          </a:p>
        </p:txBody>
      </p:sp>
      <p:sp>
        <p:nvSpPr>
          <p:cNvPr id="5" name="Footer Placeholder 4">
            <a:extLst>
              <a:ext uri="{FF2B5EF4-FFF2-40B4-BE49-F238E27FC236}">
                <a16:creationId xmlns:a16="http://schemas.microsoft.com/office/drawing/2014/main" id="{1B335A2D-8D32-0F4D-F977-CAEC0B598D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1B5E2D4-01E6-1411-EAEE-DDCB1E21D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693F70-EB63-4A5E-9D6B-1709907E8E95}" type="slidenum">
              <a:rPr lang="en-IN" smtClean="0"/>
              <a:t>‹#›</a:t>
            </a:fld>
            <a:endParaRPr lang="en-IN"/>
          </a:p>
        </p:txBody>
      </p:sp>
    </p:spTree>
    <p:extLst>
      <p:ext uri="{BB962C8B-B14F-4D97-AF65-F5344CB8AC3E}">
        <p14:creationId xmlns:p14="http://schemas.microsoft.com/office/powerpoint/2010/main" val="1688202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300">
        <p:fade/>
      </p:transition>
    </mc:Choice>
    <mc:Fallback>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8B3C2-0AC0-3E4A-3D02-8A66162A99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3AF138C-1C7D-657A-2863-D43C9B447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F88D4244-7C11-C9C6-43C5-86EEA8487128}"/>
              </a:ext>
            </a:extLst>
          </p:cNvPr>
          <p:cNvSpPr/>
          <p:nvPr/>
        </p:nvSpPr>
        <p:spPr>
          <a:xfrm>
            <a:off x="0" y="0"/>
            <a:ext cx="12192000" cy="6858000"/>
          </a:xfrm>
          <a:prstGeom prst="rect">
            <a:avLst/>
          </a:prstGeom>
          <a:solidFill>
            <a:schemeClr val="tx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13A35FFC-F33C-F09C-D764-BBD61D17FB71}"/>
              </a:ext>
            </a:extLst>
          </p:cNvPr>
          <p:cNvSpPr txBox="1"/>
          <p:nvPr/>
        </p:nvSpPr>
        <p:spPr>
          <a:xfrm>
            <a:off x="352695" y="2103120"/>
            <a:ext cx="8948059" cy="1754326"/>
          </a:xfrm>
          <a:prstGeom prst="rect">
            <a:avLst/>
          </a:prstGeom>
          <a:noFill/>
        </p:spPr>
        <p:txBody>
          <a:bodyPr wrap="square" rtlCol="0">
            <a:spAutoFit/>
          </a:bodyPr>
          <a:lstStyle/>
          <a:p>
            <a:r>
              <a:rPr lang="en-IN" sz="5400" b="1" dirty="0">
                <a:solidFill>
                  <a:schemeClr val="bg1"/>
                </a:solidFill>
                <a:latin typeface="Segoe UI" panose="020B0502040204020203" pitchFamily="34" charset="0"/>
                <a:cs typeface="Segoe UI" panose="020B0502040204020203" pitchFamily="34" charset="0"/>
              </a:rPr>
              <a:t>Customer &amp; Vehicle</a:t>
            </a:r>
          </a:p>
          <a:p>
            <a:r>
              <a:rPr lang="en-IN" sz="5400" b="1" dirty="0">
                <a:solidFill>
                  <a:schemeClr val="bg1"/>
                </a:solidFill>
                <a:latin typeface="Segoe UI" panose="020B0502040204020203" pitchFamily="34" charset="0"/>
                <a:cs typeface="Segoe UI" panose="020B0502040204020203" pitchFamily="34" charset="0"/>
              </a:rPr>
              <a:t>Insights</a:t>
            </a:r>
          </a:p>
        </p:txBody>
      </p:sp>
      <p:sp>
        <p:nvSpPr>
          <p:cNvPr id="9" name="Rectangle 8">
            <a:extLst>
              <a:ext uri="{FF2B5EF4-FFF2-40B4-BE49-F238E27FC236}">
                <a16:creationId xmlns:a16="http://schemas.microsoft.com/office/drawing/2014/main" id="{3190443B-5F79-1E55-A8C3-683C3F017E65}"/>
              </a:ext>
            </a:extLst>
          </p:cNvPr>
          <p:cNvSpPr/>
          <p:nvPr/>
        </p:nvSpPr>
        <p:spPr>
          <a:xfrm flipV="1">
            <a:off x="485191" y="3857446"/>
            <a:ext cx="5826035" cy="54117"/>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A0FD2AA-CC04-09CC-B980-5DDE58574DD8}"/>
              </a:ext>
            </a:extLst>
          </p:cNvPr>
          <p:cNvSpPr txBox="1"/>
          <p:nvPr/>
        </p:nvSpPr>
        <p:spPr>
          <a:xfrm>
            <a:off x="485191" y="4139482"/>
            <a:ext cx="5826035" cy="400110"/>
          </a:xfrm>
          <a:prstGeom prst="rect">
            <a:avLst/>
          </a:prstGeom>
          <a:noFill/>
        </p:spPr>
        <p:txBody>
          <a:bodyPr wrap="square" rtlCol="0">
            <a:spAutoFit/>
          </a:bodyPr>
          <a:lstStyle/>
          <a:p>
            <a:r>
              <a:rPr lang="en-IN" sz="2000" dirty="0">
                <a:solidFill>
                  <a:schemeClr val="bg1"/>
                </a:solidFill>
              </a:rPr>
              <a:t>Data-Driven Analysis for Insurance Optimization</a:t>
            </a:r>
          </a:p>
        </p:txBody>
      </p:sp>
    </p:spTree>
    <p:extLst>
      <p:ext uri="{BB962C8B-B14F-4D97-AF65-F5344CB8AC3E}">
        <p14:creationId xmlns:p14="http://schemas.microsoft.com/office/powerpoint/2010/main" val="1874033019"/>
      </p:ext>
    </p:extLst>
  </p:cSld>
  <p:clrMapOvr>
    <a:masterClrMapping/>
  </p:clrMapOvr>
  <mc:AlternateContent xmlns:mc="http://schemas.openxmlformats.org/markup-compatibility/2006">
    <mc:Choice xmlns:p14="http://schemas.microsoft.com/office/powerpoint/2010/main" Requires="p14">
      <p:transition p14:dur="300" advClick="0" advTm="5000">
        <p:fade/>
      </p:transition>
    </mc:Choice>
    <mc:Fallback>
      <p:transition advClick="0" advTm="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4AB6B-6105-5EEF-C1B9-F4EA8411683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07F146-F9D6-FF7D-AC2E-0AF4FF88B9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9412101-B7B9-A4A5-DB17-F0A374FC011D}"/>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01</a:t>
            </a:r>
            <a:endParaRPr lang="en-IN" sz="9600" dirty="0">
              <a:solidFill>
                <a:srgbClr val="FFE600"/>
              </a:solidFill>
            </a:endParaRPr>
          </a:p>
        </p:txBody>
      </p:sp>
      <p:sp>
        <p:nvSpPr>
          <p:cNvPr id="6" name="Oval 5">
            <a:extLst>
              <a:ext uri="{FF2B5EF4-FFF2-40B4-BE49-F238E27FC236}">
                <a16:creationId xmlns:a16="http://schemas.microsoft.com/office/drawing/2014/main" id="{3C25C062-327E-2D78-D6FF-04D755B43445}"/>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7EA24C3-3059-38C3-3ABD-FBC70DB0E145}"/>
              </a:ext>
            </a:extLst>
          </p:cNvPr>
          <p:cNvSpPr txBox="1"/>
          <p:nvPr/>
        </p:nvSpPr>
        <p:spPr>
          <a:xfrm>
            <a:off x="1463040" y="3315266"/>
            <a:ext cx="5512525" cy="1446550"/>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DATA</a:t>
            </a:r>
          </a:p>
          <a:p>
            <a:r>
              <a:rPr lang="en-IN" sz="4400" dirty="0">
                <a:solidFill>
                  <a:schemeClr val="bg1"/>
                </a:solidFill>
                <a:latin typeface="Segoe UI" panose="020B0502040204020203" pitchFamily="34" charset="0"/>
                <a:cs typeface="Segoe UI" panose="020B0502040204020203" pitchFamily="34" charset="0"/>
              </a:rPr>
              <a:t>UNDERSTANDING</a:t>
            </a:r>
          </a:p>
        </p:txBody>
      </p:sp>
      <p:sp>
        <p:nvSpPr>
          <p:cNvPr id="9" name="Rectangle 8">
            <a:extLst>
              <a:ext uri="{FF2B5EF4-FFF2-40B4-BE49-F238E27FC236}">
                <a16:creationId xmlns:a16="http://schemas.microsoft.com/office/drawing/2014/main" id="{8DAEEE82-CEB9-5C38-F999-455299E61E6E}"/>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85AECE5-459D-E6C8-1A78-7F5DF3186057}"/>
              </a:ext>
            </a:extLst>
          </p:cNvPr>
          <p:cNvSpPr txBox="1"/>
          <p:nvPr/>
        </p:nvSpPr>
        <p:spPr>
          <a:xfrm>
            <a:off x="1463040" y="4984050"/>
            <a:ext cx="9353006" cy="584775"/>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Exploring raw insurance data to understand its structure, quality, and key attributes.</a:t>
            </a:r>
          </a:p>
          <a:p>
            <a:r>
              <a:rPr lang="en-IN" sz="1600" dirty="0">
                <a:solidFill>
                  <a:srgbClr val="CFCFCF"/>
                </a:solidFill>
                <a:latin typeface="Segoe UI" panose="020B0502040204020203" pitchFamily="34" charset="0"/>
                <a:cs typeface="Segoe UI" panose="020B0502040204020203" pitchFamily="34" charset="0"/>
              </a:rPr>
              <a:t>Structure | Quality | Attributes</a:t>
            </a:r>
          </a:p>
        </p:txBody>
      </p:sp>
    </p:spTree>
    <p:extLst>
      <p:ext uri="{BB962C8B-B14F-4D97-AF65-F5344CB8AC3E}">
        <p14:creationId xmlns:p14="http://schemas.microsoft.com/office/powerpoint/2010/main" val="1146695661"/>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A3F57E-CC87-6609-21F7-E48F0454E188}"/>
              </a:ext>
            </a:extLst>
          </p:cNvPr>
          <p:cNvSpPr txBox="1"/>
          <p:nvPr/>
        </p:nvSpPr>
        <p:spPr>
          <a:xfrm>
            <a:off x="117566" y="45719"/>
            <a:ext cx="4389120" cy="707886"/>
          </a:xfrm>
          <a:prstGeom prst="rect">
            <a:avLst/>
          </a:prstGeom>
          <a:noFill/>
        </p:spPr>
        <p:txBody>
          <a:bodyPr wrap="square" rtlCol="0">
            <a:spAutoFit/>
          </a:bodyPr>
          <a:lstStyle/>
          <a:p>
            <a:r>
              <a:rPr lang="en-IN" sz="4000" dirty="0">
                <a:solidFill>
                  <a:schemeClr val="bg1"/>
                </a:solidFill>
              </a:rPr>
              <a:t>DATA OVERVIEW</a:t>
            </a:r>
          </a:p>
        </p:txBody>
      </p:sp>
      <p:sp>
        <p:nvSpPr>
          <p:cNvPr id="5" name="Rectangle 4">
            <a:extLst>
              <a:ext uri="{FF2B5EF4-FFF2-40B4-BE49-F238E27FC236}">
                <a16:creationId xmlns:a16="http://schemas.microsoft.com/office/drawing/2014/main" id="{CDED6D77-78FE-BBAC-2BAA-05628CB04E99}"/>
              </a:ext>
            </a:extLst>
          </p:cNvPr>
          <p:cNvSpPr/>
          <p:nvPr/>
        </p:nvSpPr>
        <p:spPr>
          <a:xfrm flipV="1">
            <a:off x="261257" y="730744"/>
            <a:ext cx="338328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1DA0A66-FBC2-C5AE-3AF5-DD19A3BA5194}"/>
              </a:ext>
            </a:extLst>
          </p:cNvPr>
          <p:cNvSpPr txBox="1"/>
          <p:nvPr/>
        </p:nvSpPr>
        <p:spPr>
          <a:xfrm>
            <a:off x="261257" y="1245133"/>
            <a:ext cx="3833949" cy="3693319"/>
          </a:xfrm>
          <a:prstGeom prst="rect">
            <a:avLst/>
          </a:prstGeom>
          <a:noFill/>
        </p:spPr>
        <p:txBody>
          <a:bodyPr wrap="square" rtlCol="0">
            <a:spAutoFit/>
          </a:bodyPr>
          <a:lstStyle/>
          <a:p>
            <a:r>
              <a:rPr lang="en-US" dirty="0">
                <a:solidFill>
                  <a:srgbClr val="CFCFCF"/>
                </a:solidFill>
                <a:latin typeface="Segoe UI" panose="020B0502040204020203" pitchFamily="34" charset="0"/>
                <a:cs typeface="Segoe UI" panose="020B0502040204020203" pitchFamily="34" charset="0"/>
              </a:rPr>
              <a:t>• Dataset contains insurance customer and vehicle information</a:t>
            </a:r>
          </a:p>
          <a:p>
            <a:r>
              <a:rPr lang="en-US" dirty="0">
                <a:solidFill>
                  <a:srgbClr val="CFCFCF"/>
                </a:solidFill>
                <a:latin typeface="Segoe UI" panose="020B0502040204020203" pitchFamily="34" charset="0"/>
                <a:cs typeface="Segoe UI" panose="020B0502040204020203" pitchFamily="34" charset="0"/>
              </a:rPr>
              <a:t>  </a:t>
            </a:r>
          </a:p>
          <a:p>
            <a:endParaRPr lang="en-US" dirty="0">
              <a:solidFill>
                <a:srgbClr val="CFCFCF"/>
              </a:solidFill>
              <a:latin typeface="Segoe UI" panose="020B0502040204020203" pitchFamily="34" charset="0"/>
              <a:cs typeface="Segoe UI" panose="020B0502040204020203" pitchFamily="34" charset="0"/>
            </a:endParaRPr>
          </a:p>
          <a:p>
            <a:r>
              <a:rPr lang="en-US" dirty="0">
                <a:solidFill>
                  <a:srgbClr val="CFCFCF"/>
                </a:solidFill>
                <a:latin typeface="Segoe UI" panose="020B0502040204020203" pitchFamily="34" charset="0"/>
                <a:cs typeface="Segoe UI" panose="020B0502040204020203" pitchFamily="34" charset="0"/>
              </a:rPr>
              <a:t>• Key Attributes:</a:t>
            </a:r>
          </a:p>
          <a:p>
            <a:r>
              <a:rPr lang="en-US" dirty="0">
                <a:solidFill>
                  <a:srgbClr val="CFCFCF"/>
                </a:solidFill>
                <a:latin typeface="Segoe UI" panose="020B0502040204020203" pitchFamily="34" charset="0"/>
                <a:cs typeface="Segoe UI" panose="020B0502040204020203" pitchFamily="34" charset="0"/>
              </a:rPr>
              <a:t>   Customer Age  </a:t>
            </a:r>
          </a:p>
          <a:p>
            <a:r>
              <a:rPr lang="en-US" dirty="0">
                <a:solidFill>
                  <a:srgbClr val="CFCFCF"/>
                </a:solidFill>
                <a:latin typeface="Segoe UI" panose="020B0502040204020203" pitchFamily="34" charset="0"/>
                <a:cs typeface="Segoe UI" panose="020B0502040204020203" pitchFamily="34" charset="0"/>
              </a:rPr>
              <a:t>   Vehicle Age  </a:t>
            </a:r>
          </a:p>
          <a:p>
            <a:r>
              <a:rPr lang="en-US" dirty="0">
                <a:solidFill>
                  <a:srgbClr val="CFCFCF"/>
                </a:solidFill>
                <a:latin typeface="Segoe UI" panose="020B0502040204020203" pitchFamily="34" charset="0"/>
                <a:cs typeface="Segoe UI" panose="020B0502040204020203" pitchFamily="34" charset="0"/>
              </a:rPr>
              <a:t>   Fuel Type  </a:t>
            </a:r>
          </a:p>
          <a:p>
            <a:r>
              <a:rPr lang="en-US" dirty="0">
                <a:solidFill>
                  <a:srgbClr val="CFCFCF"/>
                </a:solidFill>
                <a:latin typeface="Segoe UI" panose="020B0502040204020203" pitchFamily="34" charset="0"/>
                <a:cs typeface="Segoe UI" panose="020B0502040204020203" pitchFamily="34" charset="0"/>
              </a:rPr>
              <a:t>   Region Code  </a:t>
            </a:r>
          </a:p>
          <a:p>
            <a:r>
              <a:rPr lang="en-US" dirty="0">
                <a:solidFill>
                  <a:srgbClr val="CFCFCF"/>
                </a:solidFill>
                <a:latin typeface="Segoe UI" panose="020B0502040204020203" pitchFamily="34" charset="0"/>
                <a:cs typeface="Segoe UI" panose="020B0502040204020203" pitchFamily="34" charset="0"/>
              </a:rPr>
              <a:t>   Claim Status</a:t>
            </a:r>
          </a:p>
          <a:p>
            <a:endParaRPr lang="en-US" dirty="0">
              <a:solidFill>
                <a:srgbClr val="CFCFCF"/>
              </a:solidFill>
              <a:latin typeface="Segoe UI" panose="020B0502040204020203" pitchFamily="34" charset="0"/>
              <a:cs typeface="Segoe UI" panose="020B0502040204020203" pitchFamily="34" charset="0"/>
            </a:endParaRPr>
          </a:p>
          <a:p>
            <a:endParaRPr lang="en-US" dirty="0">
              <a:solidFill>
                <a:srgbClr val="CFCFCF"/>
              </a:solidFill>
              <a:latin typeface="Segoe UI" panose="020B0502040204020203" pitchFamily="34" charset="0"/>
              <a:cs typeface="Segoe UI" panose="020B0502040204020203" pitchFamily="34" charset="0"/>
            </a:endParaRPr>
          </a:p>
          <a:p>
            <a:r>
              <a:rPr lang="en-US" dirty="0">
                <a:solidFill>
                  <a:srgbClr val="CFCFCF"/>
                </a:solidFill>
                <a:latin typeface="Segoe UI" panose="020B0502040204020203" pitchFamily="34" charset="0"/>
                <a:cs typeface="Segoe UI" panose="020B0502040204020203" pitchFamily="34" charset="0"/>
              </a:rPr>
              <a:t>• Total Records: ~58K+</a:t>
            </a:r>
            <a:endParaRPr lang="en-IN" dirty="0">
              <a:solidFill>
                <a:srgbClr val="CFCFCF"/>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C60808CF-FD61-43F1-79D7-56BE5771A7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12867"/>
            <a:ext cx="12192000" cy="1245131"/>
          </a:xfrm>
          <a:prstGeom prst="rect">
            <a:avLst/>
          </a:prstGeom>
        </p:spPr>
      </p:pic>
      <p:sp>
        <p:nvSpPr>
          <p:cNvPr id="9" name="TextBox 8">
            <a:extLst>
              <a:ext uri="{FF2B5EF4-FFF2-40B4-BE49-F238E27FC236}">
                <a16:creationId xmlns:a16="http://schemas.microsoft.com/office/drawing/2014/main" id="{11F77B92-4336-FBC1-CC4D-F62CCE050A8D}"/>
              </a:ext>
            </a:extLst>
          </p:cNvPr>
          <p:cNvSpPr txBox="1"/>
          <p:nvPr/>
        </p:nvSpPr>
        <p:spPr>
          <a:xfrm>
            <a:off x="5769428" y="2908034"/>
            <a:ext cx="4236721" cy="1323439"/>
          </a:xfrm>
          <a:prstGeom prst="rect">
            <a:avLst/>
          </a:prstGeom>
          <a:noFill/>
        </p:spPr>
        <p:txBody>
          <a:bodyPr wrap="square" rtlCol="0">
            <a:spAutoFit/>
          </a:bodyPr>
          <a:lstStyle/>
          <a:p>
            <a:r>
              <a:rPr lang="en-US" sz="1600" dirty="0">
                <a:solidFill>
                  <a:srgbClr val="E0E0E0"/>
                </a:solidFill>
                <a:latin typeface="Segoe UI" panose="020B0502040204020203" pitchFamily="34" charset="0"/>
                <a:cs typeface="Segoe UI" panose="020B0502040204020203" pitchFamily="34" charset="0"/>
              </a:rPr>
              <a:t>The dataset represents a large and diverse customer base (~58K records), </a:t>
            </a:r>
          </a:p>
          <a:p>
            <a:r>
              <a:rPr lang="en-US" sz="1600" dirty="0">
                <a:solidFill>
                  <a:srgbClr val="E0E0E0"/>
                </a:solidFill>
                <a:latin typeface="Segoe UI" panose="020B0502040204020203" pitchFamily="34" charset="0"/>
                <a:cs typeface="Segoe UI" panose="020B0502040204020203" pitchFamily="34" charset="0"/>
              </a:rPr>
              <a:t>providing a strong foundation to analyze customer behavior, vehicle characteristics, </a:t>
            </a:r>
          </a:p>
          <a:p>
            <a:r>
              <a:rPr lang="en-US" sz="1600" dirty="0">
                <a:solidFill>
                  <a:srgbClr val="E0E0E0"/>
                </a:solidFill>
                <a:latin typeface="Segoe UI" panose="020B0502040204020203" pitchFamily="34" charset="0"/>
                <a:cs typeface="Segoe UI" panose="020B0502040204020203" pitchFamily="34" charset="0"/>
              </a:rPr>
              <a:t>and claim patterns.</a:t>
            </a:r>
            <a:endParaRPr lang="en-IN" sz="1600" dirty="0">
              <a:solidFill>
                <a:srgbClr val="E0E0E0"/>
              </a:solidFill>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A0FBD2E9-41C1-163E-CF4C-8359D76B31AD}"/>
              </a:ext>
            </a:extLst>
          </p:cNvPr>
          <p:cNvSpPr txBox="1"/>
          <p:nvPr/>
        </p:nvSpPr>
        <p:spPr>
          <a:xfrm>
            <a:off x="5769428" y="2359951"/>
            <a:ext cx="2495006" cy="369332"/>
          </a:xfrm>
          <a:prstGeom prst="rect">
            <a:avLst/>
          </a:prstGeom>
          <a:noFill/>
        </p:spPr>
        <p:txBody>
          <a:bodyPr wrap="square" rtlCol="0">
            <a:spAutoFit/>
          </a:bodyPr>
          <a:lstStyle/>
          <a:p>
            <a:r>
              <a:rPr lang="en-IN" b="1" dirty="0">
                <a:solidFill>
                  <a:srgbClr val="FFE600"/>
                </a:solidFill>
                <a:latin typeface="Segoe UI" panose="020B0502040204020203" pitchFamily="34" charset="0"/>
                <a:cs typeface="Segoe UI" panose="020B0502040204020203" pitchFamily="34" charset="0"/>
              </a:rPr>
              <a:t>Key Observation</a:t>
            </a:r>
          </a:p>
        </p:txBody>
      </p:sp>
      <p:sp>
        <p:nvSpPr>
          <p:cNvPr id="11" name="Rectangle 10">
            <a:extLst>
              <a:ext uri="{FF2B5EF4-FFF2-40B4-BE49-F238E27FC236}">
                <a16:creationId xmlns:a16="http://schemas.microsoft.com/office/drawing/2014/main" id="{D0DB1E91-0C54-35CA-4850-EABD7FC481C3}"/>
              </a:ext>
            </a:extLst>
          </p:cNvPr>
          <p:cNvSpPr/>
          <p:nvPr/>
        </p:nvSpPr>
        <p:spPr>
          <a:xfrm flipV="1">
            <a:off x="5769428" y="2795799"/>
            <a:ext cx="2002972" cy="45719"/>
          </a:xfrm>
          <a:prstGeom prst="rect">
            <a:avLst/>
          </a:prstGeom>
          <a:solidFill>
            <a:srgbClr val="2A2A2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15476099"/>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CA3D1-412A-E69F-BC65-EDB2D64E960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1AB420-6BFD-A25B-BC5F-F17E105995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908D977-FD74-55AB-04F3-8466BFE72493}"/>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02</a:t>
            </a:r>
            <a:endParaRPr lang="en-IN" sz="9600" dirty="0">
              <a:solidFill>
                <a:srgbClr val="FFE600"/>
              </a:solidFill>
            </a:endParaRPr>
          </a:p>
        </p:txBody>
      </p:sp>
      <p:sp>
        <p:nvSpPr>
          <p:cNvPr id="6" name="Oval 5">
            <a:extLst>
              <a:ext uri="{FF2B5EF4-FFF2-40B4-BE49-F238E27FC236}">
                <a16:creationId xmlns:a16="http://schemas.microsoft.com/office/drawing/2014/main" id="{0EC6D88A-DAE2-E790-8477-FE3F48D961C5}"/>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1491392-71ED-6907-D4AF-C0EF1C25B8C8}"/>
              </a:ext>
            </a:extLst>
          </p:cNvPr>
          <p:cNvSpPr txBox="1"/>
          <p:nvPr/>
        </p:nvSpPr>
        <p:spPr>
          <a:xfrm>
            <a:off x="1463040" y="3315266"/>
            <a:ext cx="5512525" cy="1446550"/>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DATA</a:t>
            </a:r>
          </a:p>
          <a:p>
            <a:r>
              <a:rPr lang="en-IN" sz="4400" dirty="0">
                <a:solidFill>
                  <a:schemeClr val="bg1"/>
                </a:solidFill>
                <a:latin typeface="Segoe UI" panose="020B0502040204020203" pitchFamily="34" charset="0"/>
                <a:cs typeface="Segoe UI" panose="020B0502040204020203" pitchFamily="34" charset="0"/>
              </a:rPr>
              <a:t>PREPARATION</a:t>
            </a:r>
          </a:p>
        </p:txBody>
      </p:sp>
      <p:sp>
        <p:nvSpPr>
          <p:cNvPr id="9" name="Rectangle 8">
            <a:extLst>
              <a:ext uri="{FF2B5EF4-FFF2-40B4-BE49-F238E27FC236}">
                <a16:creationId xmlns:a16="http://schemas.microsoft.com/office/drawing/2014/main" id="{2775382E-78CF-1110-E9F2-9C6F59B72AA2}"/>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741CAF5-3E07-6C08-E016-7C702AF26B88}"/>
              </a:ext>
            </a:extLst>
          </p:cNvPr>
          <p:cNvSpPr txBox="1"/>
          <p:nvPr/>
        </p:nvSpPr>
        <p:spPr>
          <a:xfrm>
            <a:off x="1463040" y="4984050"/>
            <a:ext cx="9353006" cy="830997"/>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Preparing raw data by handling missing values, removing inconsistencies, and ensuring data quality for further analysis. </a:t>
            </a:r>
          </a:p>
          <a:p>
            <a:r>
              <a:rPr lang="en-IN" sz="1600" dirty="0">
                <a:solidFill>
                  <a:srgbClr val="CFCFCF"/>
                </a:solidFill>
                <a:latin typeface="Segoe UI" panose="020B0502040204020203" pitchFamily="34" charset="0"/>
                <a:cs typeface="Segoe UI" panose="020B0502040204020203" pitchFamily="34" charset="0"/>
              </a:rPr>
              <a:t>Cleaning | Structuring | Data Quality</a:t>
            </a:r>
          </a:p>
        </p:txBody>
      </p:sp>
    </p:spTree>
    <p:extLst>
      <p:ext uri="{BB962C8B-B14F-4D97-AF65-F5344CB8AC3E}">
        <p14:creationId xmlns:p14="http://schemas.microsoft.com/office/powerpoint/2010/main" val="1595013532"/>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8C07-1F44-E738-B45A-47636B0DC8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294BC0-27F1-F5C1-B710-15AF3296558D}"/>
              </a:ext>
            </a:extLst>
          </p:cNvPr>
          <p:cNvSpPr txBox="1"/>
          <p:nvPr/>
        </p:nvSpPr>
        <p:spPr>
          <a:xfrm>
            <a:off x="117566" y="45719"/>
            <a:ext cx="4389120" cy="707886"/>
          </a:xfrm>
          <a:prstGeom prst="rect">
            <a:avLst/>
          </a:prstGeom>
          <a:noFill/>
        </p:spPr>
        <p:txBody>
          <a:bodyPr wrap="square" rtlCol="0">
            <a:spAutoFit/>
          </a:bodyPr>
          <a:lstStyle/>
          <a:p>
            <a:r>
              <a:rPr lang="en-IN" sz="4000" dirty="0">
                <a:solidFill>
                  <a:schemeClr val="bg1"/>
                </a:solidFill>
              </a:rPr>
              <a:t>DATA CLEANING</a:t>
            </a:r>
          </a:p>
        </p:txBody>
      </p:sp>
      <p:sp>
        <p:nvSpPr>
          <p:cNvPr id="5" name="Rectangle 4">
            <a:extLst>
              <a:ext uri="{FF2B5EF4-FFF2-40B4-BE49-F238E27FC236}">
                <a16:creationId xmlns:a16="http://schemas.microsoft.com/office/drawing/2014/main" id="{9DFD9306-24F3-718A-63F2-25CEF76574D2}"/>
              </a:ext>
            </a:extLst>
          </p:cNvPr>
          <p:cNvSpPr/>
          <p:nvPr/>
        </p:nvSpPr>
        <p:spPr>
          <a:xfrm flipV="1">
            <a:off x="261257" y="730742"/>
            <a:ext cx="3304903"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31442B11-793B-4F85-CC07-983180E907C0}"/>
              </a:ext>
            </a:extLst>
          </p:cNvPr>
          <p:cNvGrpSpPr/>
          <p:nvPr/>
        </p:nvGrpSpPr>
        <p:grpSpPr>
          <a:xfrm>
            <a:off x="261257" y="1211028"/>
            <a:ext cx="11506788" cy="3795159"/>
            <a:chOff x="418012" y="1224091"/>
            <a:chExt cx="11506788" cy="3795159"/>
          </a:xfrm>
        </p:grpSpPr>
        <p:sp>
          <p:nvSpPr>
            <p:cNvPr id="2" name="TextBox 1">
              <a:extLst>
                <a:ext uri="{FF2B5EF4-FFF2-40B4-BE49-F238E27FC236}">
                  <a16:creationId xmlns:a16="http://schemas.microsoft.com/office/drawing/2014/main" id="{EE9638B7-751B-E4AC-278D-39055132DCA8}"/>
                </a:ext>
              </a:extLst>
            </p:cNvPr>
            <p:cNvSpPr txBox="1"/>
            <p:nvPr/>
          </p:nvSpPr>
          <p:spPr>
            <a:xfrm>
              <a:off x="418012" y="1224091"/>
              <a:ext cx="2246810" cy="523220"/>
            </a:xfrm>
            <a:prstGeom prst="rect">
              <a:avLst/>
            </a:prstGeom>
            <a:noFill/>
          </p:spPr>
          <p:txBody>
            <a:bodyPr wrap="square" rtlCol="0">
              <a:spAutoFit/>
            </a:bodyPr>
            <a:lstStyle/>
            <a:p>
              <a:r>
                <a:rPr lang="en-IN" sz="2400" dirty="0"/>
                <a:t>❌ </a:t>
              </a:r>
              <a:r>
                <a:rPr lang="en-IN" sz="2800" b="1" dirty="0">
                  <a:solidFill>
                    <a:srgbClr val="E6E6E6"/>
                  </a:solidFill>
                </a:rPr>
                <a:t>Problems</a:t>
              </a:r>
            </a:p>
          </p:txBody>
        </p:sp>
        <p:sp>
          <p:nvSpPr>
            <p:cNvPr id="3" name="TextBox 2">
              <a:extLst>
                <a:ext uri="{FF2B5EF4-FFF2-40B4-BE49-F238E27FC236}">
                  <a16:creationId xmlns:a16="http://schemas.microsoft.com/office/drawing/2014/main" id="{61C169A6-ABC3-AD39-A6AA-BD9AB8C2F846}"/>
                </a:ext>
              </a:extLst>
            </p:cNvPr>
            <p:cNvSpPr txBox="1"/>
            <p:nvPr/>
          </p:nvSpPr>
          <p:spPr>
            <a:xfrm>
              <a:off x="6409508" y="1224091"/>
              <a:ext cx="3126378" cy="523220"/>
            </a:xfrm>
            <a:prstGeom prst="rect">
              <a:avLst/>
            </a:prstGeom>
            <a:noFill/>
          </p:spPr>
          <p:txBody>
            <a:bodyPr wrap="square" rtlCol="0">
              <a:spAutoFit/>
            </a:bodyPr>
            <a:lstStyle/>
            <a:p>
              <a:r>
                <a:rPr lang="en-IN" sz="2800" dirty="0"/>
                <a:t>✅</a:t>
              </a:r>
              <a:r>
                <a:rPr lang="en-US" sz="2800" b="1" dirty="0">
                  <a:solidFill>
                    <a:srgbClr val="E6E6E6"/>
                  </a:solidFill>
                </a:rPr>
                <a:t>Actions Taken</a:t>
              </a:r>
              <a:endParaRPr lang="en-IN" sz="2800" b="1" dirty="0">
                <a:solidFill>
                  <a:srgbClr val="E6E6E6"/>
                </a:solidFill>
              </a:endParaRPr>
            </a:p>
          </p:txBody>
        </p:sp>
        <p:sp>
          <p:nvSpPr>
            <p:cNvPr id="7" name="TextBox 6">
              <a:extLst>
                <a:ext uri="{FF2B5EF4-FFF2-40B4-BE49-F238E27FC236}">
                  <a16:creationId xmlns:a16="http://schemas.microsoft.com/office/drawing/2014/main" id="{C6E13483-8D00-8509-ABBE-D5E54884A9A1}"/>
                </a:ext>
              </a:extLst>
            </p:cNvPr>
            <p:cNvSpPr txBox="1"/>
            <p:nvPr/>
          </p:nvSpPr>
          <p:spPr>
            <a:xfrm>
              <a:off x="418012" y="2070045"/>
              <a:ext cx="4177297" cy="2949205"/>
            </a:xfrm>
            <a:prstGeom prst="rect">
              <a:avLst/>
            </a:prstGeom>
            <a:noFill/>
          </p:spPr>
          <p:txBody>
            <a:bodyPr wrap="none" rtlCol="0">
              <a:spAutoFit/>
            </a:bodyPr>
            <a:lstStyle/>
            <a:p>
              <a:pPr>
                <a:lnSpc>
                  <a:spcPct val="150000"/>
                </a:lnSpc>
              </a:pPr>
              <a:r>
                <a:rPr lang="en-US" dirty="0">
                  <a:solidFill>
                    <a:srgbClr val="E6E6E6"/>
                  </a:solidFill>
                  <a:latin typeface="Segoe UI" panose="020B0502040204020203" pitchFamily="34" charset="0"/>
                  <a:cs typeface="Segoe UI" panose="020B0502040204020203" pitchFamily="34" charset="0"/>
                </a:rPr>
                <a:t>Missing or null values present  </a:t>
              </a:r>
            </a:p>
            <a:p>
              <a:pPr>
                <a:lnSpc>
                  <a:spcPct val="150000"/>
                </a:lnSpc>
              </a:pPr>
              <a:endParaRPr lang="en-US" dirty="0">
                <a:solidFill>
                  <a:srgbClr val="E6E6E6"/>
                </a:solidFill>
                <a:latin typeface="Segoe UI" panose="020B0502040204020203" pitchFamily="34" charset="0"/>
                <a:cs typeface="Segoe UI" panose="020B0502040204020203" pitchFamily="34" charset="0"/>
              </a:endParaRPr>
            </a:p>
            <a:p>
              <a:pPr>
                <a:lnSpc>
                  <a:spcPct val="150000"/>
                </a:lnSpc>
              </a:pPr>
              <a:r>
                <a:rPr lang="en-US" dirty="0">
                  <a:solidFill>
                    <a:srgbClr val="E6E6E6"/>
                  </a:solidFill>
                  <a:latin typeface="Segoe UI" panose="020B0502040204020203" pitchFamily="34" charset="0"/>
                  <a:cs typeface="Segoe UI" panose="020B0502040204020203" pitchFamily="34" charset="0"/>
                </a:rPr>
                <a:t>Inconsistent data formats across fields  </a:t>
              </a:r>
            </a:p>
            <a:p>
              <a:pPr>
                <a:lnSpc>
                  <a:spcPct val="150000"/>
                </a:lnSpc>
              </a:pPr>
              <a:endParaRPr lang="en-US" dirty="0">
                <a:solidFill>
                  <a:srgbClr val="E6E6E6"/>
                </a:solidFill>
                <a:latin typeface="Segoe UI" panose="020B0502040204020203" pitchFamily="34" charset="0"/>
                <a:cs typeface="Segoe UI" panose="020B0502040204020203" pitchFamily="34" charset="0"/>
              </a:endParaRPr>
            </a:p>
            <a:p>
              <a:pPr>
                <a:lnSpc>
                  <a:spcPct val="150000"/>
                </a:lnSpc>
              </a:pPr>
              <a:r>
                <a:rPr lang="en-US" dirty="0">
                  <a:solidFill>
                    <a:srgbClr val="E6E6E6"/>
                  </a:solidFill>
                  <a:latin typeface="Segoe UI" panose="020B0502040204020203" pitchFamily="34" charset="0"/>
                  <a:cs typeface="Segoe UI" panose="020B0502040204020203" pitchFamily="34" charset="0"/>
                </a:rPr>
                <a:t>Presence of noisy / irrelevant records  </a:t>
              </a:r>
            </a:p>
            <a:p>
              <a:pPr>
                <a:lnSpc>
                  <a:spcPct val="150000"/>
                </a:lnSpc>
              </a:pPr>
              <a:endParaRPr lang="en-US" dirty="0">
                <a:solidFill>
                  <a:srgbClr val="E6E6E6"/>
                </a:solidFill>
                <a:latin typeface="Segoe UI" panose="020B0502040204020203" pitchFamily="34" charset="0"/>
                <a:cs typeface="Segoe UI" panose="020B0502040204020203" pitchFamily="34" charset="0"/>
              </a:endParaRPr>
            </a:p>
            <a:p>
              <a:pPr>
                <a:lnSpc>
                  <a:spcPct val="150000"/>
                </a:lnSpc>
              </a:pPr>
              <a:r>
                <a:rPr lang="en-US" dirty="0">
                  <a:solidFill>
                    <a:srgbClr val="E6E6E6"/>
                  </a:solidFill>
                  <a:latin typeface="Segoe UI" panose="020B0502040204020203" pitchFamily="34" charset="0"/>
                  <a:cs typeface="Segoe UI" panose="020B0502040204020203" pitchFamily="34" charset="0"/>
                </a:rPr>
                <a:t>Duplicate entries affecting accuracy</a:t>
              </a:r>
              <a:endParaRPr lang="en-IN" dirty="0">
                <a:solidFill>
                  <a:srgbClr val="E6E6E6"/>
                </a:soli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C8686421-E2ED-EBBD-D07C-ADC19D2D0B39}"/>
                </a:ext>
              </a:extLst>
            </p:cNvPr>
            <p:cNvSpPr txBox="1"/>
            <p:nvPr/>
          </p:nvSpPr>
          <p:spPr>
            <a:xfrm>
              <a:off x="6409508" y="2070045"/>
              <a:ext cx="5515292" cy="2949205"/>
            </a:xfrm>
            <a:prstGeom prst="rect">
              <a:avLst/>
            </a:prstGeom>
            <a:noFill/>
          </p:spPr>
          <p:txBody>
            <a:bodyPr wrap="none" rtlCol="0">
              <a:spAutoFit/>
            </a:bodyPr>
            <a:lstStyle/>
            <a:p>
              <a:pPr>
                <a:lnSpc>
                  <a:spcPct val="150000"/>
                </a:lnSpc>
              </a:pPr>
              <a:r>
                <a:rPr lang="en-US" dirty="0">
                  <a:solidFill>
                    <a:srgbClr val="E6E6E6"/>
                  </a:solidFill>
                  <a:latin typeface="Segoe UI" panose="020B0502040204020203" pitchFamily="34" charset="0"/>
                  <a:cs typeface="Segoe UI" panose="020B0502040204020203" pitchFamily="34" charset="0"/>
                </a:rPr>
                <a:t>Handled missing values using appropriate methods  </a:t>
              </a:r>
            </a:p>
            <a:p>
              <a:pPr>
                <a:lnSpc>
                  <a:spcPct val="150000"/>
                </a:lnSpc>
              </a:pPr>
              <a:endParaRPr lang="en-US" dirty="0">
                <a:solidFill>
                  <a:srgbClr val="E6E6E6"/>
                </a:solidFill>
                <a:latin typeface="Segoe UI" panose="020B0502040204020203" pitchFamily="34" charset="0"/>
                <a:cs typeface="Segoe UI" panose="020B0502040204020203" pitchFamily="34" charset="0"/>
              </a:endParaRPr>
            </a:p>
            <a:p>
              <a:pPr>
                <a:lnSpc>
                  <a:spcPct val="150000"/>
                </a:lnSpc>
              </a:pPr>
              <a:r>
                <a:rPr lang="en-US" dirty="0">
                  <a:solidFill>
                    <a:srgbClr val="E6E6E6"/>
                  </a:solidFill>
                  <a:latin typeface="Segoe UI" panose="020B0502040204020203" pitchFamily="34" charset="0"/>
                  <a:cs typeface="Segoe UI" panose="020B0502040204020203" pitchFamily="34" charset="0"/>
                </a:rPr>
                <a:t>Standardized and corrected data formats  </a:t>
              </a:r>
            </a:p>
            <a:p>
              <a:pPr>
                <a:lnSpc>
                  <a:spcPct val="150000"/>
                </a:lnSpc>
              </a:pPr>
              <a:endParaRPr lang="en-US" dirty="0">
                <a:solidFill>
                  <a:srgbClr val="E6E6E6"/>
                </a:solidFill>
                <a:latin typeface="Segoe UI" panose="020B0502040204020203" pitchFamily="34" charset="0"/>
                <a:cs typeface="Segoe UI" panose="020B0502040204020203" pitchFamily="34" charset="0"/>
              </a:endParaRPr>
            </a:p>
            <a:p>
              <a:pPr>
                <a:lnSpc>
                  <a:spcPct val="150000"/>
                </a:lnSpc>
              </a:pPr>
              <a:r>
                <a:rPr lang="en-US" dirty="0">
                  <a:solidFill>
                    <a:srgbClr val="E6E6E6"/>
                  </a:solidFill>
                  <a:latin typeface="Segoe UI" panose="020B0502040204020203" pitchFamily="34" charset="0"/>
                  <a:cs typeface="Segoe UI" panose="020B0502040204020203" pitchFamily="34" charset="0"/>
                </a:rPr>
                <a:t>Filtered out irrelevant and noisy records  </a:t>
              </a:r>
            </a:p>
            <a:p>
              <a:pPr>
                <a:lnSpc>
                  <a:spcPct val="150000"/>
                </a:lnSpc>
              </a:pPr>
              <a:endParaRPr lang="en-US" dirty="0">
                <a:solidFill>
                  <a:srgbClr val="E6E6E6"/>
                </a:solidFill>
                <a:latin typeface="Segoe UI" panose="020B0502040204020203" pitchFamily="34" charset="0"/>
                <a:cs typeface="Segoe UI" panose="020B0502040204020203" pitchFamily="34" charset="0"/>
              </a:endParaRPr>
            </a:p>
            <a:p>
              <a:pPr>
                <a:lnSpc>
                  <a:spcPct val="150000"/>
                </a:lnSpc>
              </a:pPr>
              <a:r>
                <a:rPr lang="en-US" dirty="0">
                  <a:solidFill>
                    <a:srgbClr val="E6E6E6"/>
                  </a:solidFill>
                  <a:latin typeface="Segoe UI" panose="020B0502040204020203" pitchFamily="34" charset="0"/>
                  <a:cs typeface="Segoe UI" panose="020B0502040204020203" pitchFamily="34" charset="0"/>
                </a:rPr>
                <a:t>Ensured data consistency and removed duplicates</a:t>
              </a:r>
              <a:endParaRPr lang="en-IN" dirty="0">
                <a:solidFill>
                  <a:srgbClr val="E6E6E6"/>
                </a:solidFill>
                <a:latin typeface="Segoe UI" panose="020B0502040204020203" pitchFamily="34" charset="0"/>
                <a:cs typeface="Segoe UI" panose="020B0502040204020203" pitchFamily="34" charset="0"/>
              </a:endParaRPr>
            </a:p>
          </p:txBody>
        </p:sp>
        <p:sp>
          <p:nvSpPr>
            <p:cNvPr id="13" name="Arrow: Right 12">
              <a:extLst>
                <a:ext uri="{FF2B5EF4-FFF2-40B4-BE49-F238E27FC236}">
                  <a16:creationId xmlns:a16="http://schemas.microsoft.com/office/drawing/2014/main" id="{5FB9F03F-70C8-151E-0C46-E9750DC87133}"/>
                </a:ext>
              </a:extLst>
            </p:cNvPr>
            <p:cNvSpPr/>
            <p:nvPr/>
          </p:nvSpPr>
          <p:spPr>
            <a:xfrm>
              <a:off x="4341992" y="1397013"/>
              <a:ext cx="741766" cy="238056"/>
            </a:xfrm>
            <a:prstGeom prst="rightArrow">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4" name="TextBox 13">
            <a:extLst>
              <a:ext uri="{FF2B5EF4-FFF2-40B4-BE49-F238E27FC236}">
                <a16:creationId xmlns:a16="http://schemas.microsoft.com/office/drawing/2014/main" id="{2144143F-EBD0-1889-DCAF-DC1695D25AD0}"/>
              </a:ext>
            </a:extLst>
          </p:cNvPr>
          <p:cNvSpPr txBox="1"/>
          <p:nvPr/>
        </p:nvSpPr>
        <p:spPr>
          <a:xfrm>
            <a:off x="2889069" y="6140287"/>
            <a:ext cx="6413863" cy="338554"/>
          </a:xfrm>
          <a:prstGeom prst="rect">
            <a:avLst/>
          </a:prstGeom>
          <a:noFill/>
        </p:spPr>
        <p:txBody>
          <a:bodyPr wrap="square" rtlCol="0">
            <a:spAutoFit/>
          </a:bodyPr>
          <a:lstStyle/>
          <a:p>
            <a:pPr algn="ctr"/>
            <a:r>
              <a:rPr lang="en-US" sz="1600" dirty="0">
                <a:solidFill>
                  <a:srgbClr val="CFCFCF"/>
                </a:solidFill>
              </a:rPr>
              <a:t>Clean data ensures reliable analysis and drives accurate business insights.</a:t>
            </a:r>
            <a:endParaRPr lang="en-IN" sz="1600" dirty="0">
              <a:solidFill>
                <a:srgbClr val="CFCFCF"/>
              </a:solidFill>
            </a:endParaRPr>
          </a:p>
        </p:txBody>
      </p:sp>
      <p:sp>
        <p:nvSpPr>
          <p:cNvPr id="17" name="Flowchart: Connector 16">
            <a:extLst>
              <a:ext uri="{FF2B5EF4-FFF2-40B4-BE49-F238E27FC236}">
                <a16:creationId xmlns:a16="http://schemas.microsoft.com/office/drawing/2014/main" id="{2A944D75-DE6C-CB35-9419-96EFBE289D58}"/>
              </a:ext>
            </a:extLst>
          </p:cNvPr>
          <p:cNvSpPr/>
          <p:nvPr/>
        </p:nvSpPr>
        <p:spPr>
          <a:xfrm>
            <a:off x="2669178" y="6202066"/>
            <a:ext cx="235130" cy="214996"/>
          </a:xfrm>
          <a:prstGeom prst="flowChartConnector">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70358232"/>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7D0A7-567C-4FD2-0B6F-46476E929CC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D8BD4D-BBCF-613B-2A3D-82E4EC7401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85B730CC-EFF2-60EC-EA0F-066FBBFAE9D4}"/>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03</a:t>
            </a:r>
            <a:endParaRPr lang="en-IN" sz="9600" dirty="0">
              <a:solidFill>
                <a:srgbClr val="FFE600"/>
              </a:solidFill>
            </a:endParaRPr>
          </a:p>
        </p:txBody>
      </p:sp>
      <p:sp>
        <p:nvSpPr>
          <p:cNvPr id="6" name="Oval 5">
            <a:extLst>
              <a:ext uri="{FF2B5EF4-FFF2-40B4-BE49-F238E27FC236}">
                <a16:creationId xmlns:a16="http://schemas.microsoft.com/office/drawing/2014/main" id="{B7F41ED0-52D8-85BF-8627-BA9DBB9F8C76}"/>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6137FBB-D854-83B3-CFE2-741A41F781F6}"/>
              </a:ext>
            </a:extLst>
          </p:cNvPr>
          <p:cNvSpPr txBox="1"/>
          <p:nvPr/>
        </p:nvSpPr>
        <p:spPr>
          <a:xfrm>
            <a:off x="1463040" y="3315266"/>
            <a:ext cx="5512525" cy="1446550"/>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DATA</a:t>
            </a:r>
          </a:p>
          <a:p>
            <a:r>
              <a:rPr lang="en-IN" sz="4400" dirty="0">
                <a:solidFill>
                  <a:schemeClr val="bg1"/>
                </a:solidFill>
                <a:latin typeface="Segoe UI" panose="020B0502040204020203" pitchFamily="34" charset="0"/>
                <a:cs typeface="Segoe UI" panose="020B0502040204020203" pitchFamily="34" charset="0"/>
              </a:rPr>
              <a:t>TRANSFORMATION</a:t>
            </a:r>
          </a:p>
        </p:txBody>
      </p:sp>
      <p:sp>
        <p:nvSpPr>
          <p:cNvPr id="9" name="Rectangle 8">
            <a:extLst>
              <a:ext uri="{FF2B5EF4-FFF2-40B4-BE49-F238E27FC236}">
                <a16:creationId xmlns:a16="http://schemas.microsoft.com/office/drawing/2014/main" id="{98CE36C0-C877-D266-0657-F92F86F746BD}"/>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F7E41FA-1C41-1CA8-FC76-E2DCC8A72D5D}"/>
              </a:ext>
            </a:extLst>
          </p:cNvPr>
          <p:cNvSpPr txBox="1"/>
          <p:nvPr/>
        </p:nvSpPr>
        <p:spPr>
          <a:xfrm>
            <a:off x="1463040" y="4984050"/>
            <a:ext cx="9353006" cy="830997"/>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Transforming raw data into structured formats through SQL operations, feature extraction, and data standardization. </a:t>
            </a:r>
          </a:p>
          <a:p>
            <a:r>
              <a:rPr lang="en-IN" sz="1600" dirty="0">
                <a:solidFill>
                  <a:srgbClr val="CFCFCF"/>
                </a:solidFill>
                <a:latin typeface="Segoe UI" panose="020B0502040204020203" pitchFamily="34" charset="0"/>
                <a:cs typeface="Segoe UI" panose="020B0502040204020203" pitchFamily="34" charset="0"/>
              </a:rPr>
              <a:t>S</a:t>
            </a:r>
            <a:r>
              <a:rPr lang="en-US" sz="1600" dirty="0">
                <a:solidFill>
                  <a:srgbClr val="CFCFCF"/>
                </a:solidFill>
                <a:latin typeface="Segoe UI" panose="020B0502040204020203" pitchFamily="34" charset="0"/>
                <a:cs typeface="Segoe UI" panose="020B0502040204020203" pitchFamily="34" charset="0"/>
              </a:rPr>
              <a:t>SQL Processing | Feature Engineering | Structuring</a:t>
            </a:r>
            <a:endParaRPr lang="en-IN" sz="1600" dirty="0">
              <a:solidFill>
                <a:srgbClr val="CFCFCF"/>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05590427"/>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3CA23B-AD9C-6665-13D5-1DEA5B1CD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2446" y="999309"/>
            <a:ext cx="7215051" cy="3801304"/>
          </a:xfrm>
          <a:prstGeom prst="rect">
            <a:avLst/>
          </a:prstGeom>
          <a:effectLst>
            <a:glow rad="101600">
              <a:schemeClr val="accent4">
                <a:satMod val="175000"/>
                <a:alpha val="50000"/>
              </a:schemeClr>
            </a:glow>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E8D373E1-009D-5C6B-202D-1672866626F8}"/>
              </a:ext>
            </a:extLst>
          </p:cNvPr>
          <p:cNvSpPr txBox="1"/>
          <p:nvPr/>
        </p:nvSpPr>
        <p:spPr>
          <a:xfrm>
            <a:off x="280851" y="1156208"/>
            <a:ext cx="3409406" cy="2533707"/>
          </a:xfrm>
          <a:prstGeom prst="rect">
            <a:avLst/>
          </a:prstGeom>
          <a:noFill/>
        </p:spPr>
        <p:txBody>
          <a:bodyPr wrap="square" rtlCol="0">
            <a:spAutoFit/>
          </a:bodyPr>
          <a:lstStyle/>
          <a:p>
            <a:pPr>
              <a:lnSpc>
                <a:spcPct val="150000"/>
              </a:lnSpc>
            </a:pPr>
            <a:r>
              <a:rPr lang="en-US" dirty="0">
                <a:solidFill>
                  <a:srgbClr val="E6E6E6"/>
                </a:solidFill>
                <a:latin typeface="Segoe UI" panose="020B0502040204020203" pitchFamily="34" charset="0"/>
                <a:cs typeface="Segoe UI" panose="020B0502040204020203" pitchFamily="34" charset="0"/>
              </a:rPr>
              <a:t>Key Transformations</a:t>
            </a:r>
          </a:p>
          <a:p>
            <a:pPr>
              <a:lnSpc>
                <a:spcPct val="150000"/>
              </a:lnSpc>
            </a:pPr>
            <a:endParaRPr lang="en-US" dirty="0">
              <a:solidFill>
                <a:srgbClr val="E6E6E6"/>
              </a:solidFill>
              <a:latin typeface="Segoe UI" panose="020B0502040204020203" pitchFamily="34" charset="0"/>
              <a:cs typeface="Segoe UI" panose="020B0502040204020203" pitchFamily="34" charset="0"/>
            </a:endParaRPr>
          </a:p>
          <a:p>
            <a:pPr>
              <a:lnSpc>
                <a:spcPct val="150000"/>
              </a:lnSpc>
            </a:pPr>
            <a:r>
              <a:rPr lang="en-US" dirty="0">
                <a:solidFill>
                  <a:srgbClr val="E6E6E6"/>
                </a:solidFill>
                <a:latin typeface="Segoe UI" panose="020B0502040204020203" pitchFamily="34" charset="0"/>
                <a:cs typeface="Segoe UI" panose="020B0502040204020203" pitchFamily="34" charset="0"/>
              </a:rPr>
              <a:t>Data Cleaning &amp; Structuring  </a:t>
            </a:r>
          </a:p>
          <a:p>
            <a:pPr>
              <a:lnSpc>
                <a:spcPct val="150000"/>
              </a:lnSpc>
            </a:pPr>
            <a:r>
              <a:rPr lang="en-US" dirty="0">
                <a:solidFill>
                  <a:srgbClr val="E6E6E6"/>
                </a:solidFill>
                <a:latin typeface="Segoe UI" panose="020B0502040204020203" pitchFamily="34" charset="0"/>
                <a:cs typeface="Segoe UI" panose="020B0502040204020203" pitchFamily="34" charset="0"/>
              </a:rPr>
              <a:t>Feature Extraction   </a:t>
            </a:r>
          </a:p>
          <a:p>
            <a:pPr>
              <a:lnSpc>
                <a:spcPct val="150000"/>
              </a:lnSpc>
            </a:pPr>
            <a:r>
              <a:rPr lang="en-US" dirty="0">
                <a:solidFill>
                  <a:srgbClr val="E6E6E6"/>
                </a:solidFill>
                <a:latin typeface="Segoe UI" panose="020B0502040204020203" pitchFamily="34" charset="0"/>
                <a:cs typeface="Segoe UI" panose="020B0502040204020203" pitchFamily="34" charset="0"/>
              </a:rPr>
              <a:t>Handling Missing Values  </a:t>
            </a:r>
          </a:p>
          <a:p>
            <a:pPr>
              <a:lnSpc>
                <a:spcPct val="150000"/>
              </a:lnSpc>
            </a:pPr>
            <a:r>
              <a:rPr lang="en-US" dirty="0">
                <a:solidFill>
                  <a:srgbClr val="E6E6E6"/>
                </a:solidFill>
                <a:latin typeface="Segoe UI" panose="020B0502040204020203" pitchFamily="34" charset="0"/>
                <a:cs typeface="Segoe UI" panose="020B0502040204020203" pitchFamily="34" charset="0"/>
              </a:rPr>
              <a:t>Data Modeling (Table Creation)</a:t>
            </a:r>
            <a:endParaRPr lang="en-IN" dirty="0">
              <a:solidFill>
                <a:srgbClr val="E6E6E6"/>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A0181281-F7F0-F353-C530-BE77A7037DE8}"/>
              </a:ext>
            </a:extLst>
          </p:cNvPr>
          <p:cNvSpPr txBox="1"/>
          <p:nvPr/>
        </p:nvSpPr>
        <p:spPr>
          <a:xfrm>
            <a:off x="130628" y="45719"/>
            <a:ext cx="7667897" cy="707886"/>
          </a:xfrm>
          <a:prstGeom prst="rect">
            <a:avLst/>
          </a:prstGeom>
          <a:noFill/>
        </p:spPr>
        <p:txBody>
          <a:bodyPr wrap="square" rtlCol="0">
            <a:spAutoFit/>
          </a:bodyPr>
          <a:lstStyle/>
          <a:p>
            <a:r>
              <a:rPr lang="en-IN" sz="4000" dirty="0">
                <a:solidFill>
                  <a:schemeClr val="bg1"/>
                </a:solidFill>
              </a:rPr>
              <a:t>DATA TRANSFORMATION &amp; SQL</a:t>
            </a:r>
          </a:p>
        </p:txBody>
      </p:sp>
      <p:sp>
        <p:nvSpPr>
          <p:cNvPr id="8" name="Rectangle 7">
            <a:extLst>
              <a:ext uri="{FF2B5EF4-FFF2-40B4-BE49-F238E27FC236}">
                <a16:creationId xmlns:a16="http://schemas.microsoft.com/office/drawing/2014/main" id="{6286346B-28CC-8978-B88A-D68128DA61C4}"/>
              </a:ext>
            </a:extLst>
          </p:cNvPr>
          <p:cNvSpPr/>
          <p:nvPr/>
        </p:nvSpPr>
        <p:spPr>
          <a:xfrm flipV="1">
            <a:off x="248194" y="730744"/>
            <a:ext cx="6557554"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08AAA40A-0523-23BD-DE99-CC6C152ED0E2}"/>
              </a:ext>
            </a:extLst>
          </p:cNvPr>
          <p:cNvSpPr/>
          <p:nvPr/>
        </p:nvSpPr>
        <p:spPr>
          <a:xfrm>
            <a:off x="3804557" y="2423061"/>
            <a:ext cx="692331" cy="439133"/>
          </a:xfrm>
          <a:prstGeom prst="rightArrow">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14C1C3DB-E191-5458-DD26-0E7FD0BBAA0E}"/>
              </a:ext>
            </a:extLst>
          </p:cNvPr>
          <p:cNvSpPr txBox="1"/>
          <p:nvPr/>
        </p:nvSpPr>
        <p:spPr>
          <a:xfrm>
            <a:off x="2148839" y="6203937"/>
            <a:ext cx="7073538" cy="338554"/>
          </a:xfrm>
          <a:prstGeom prst="rect">
            <a:avLst/>
          </a:prstGeom>
          <a:noFill/>
        </p:spPr>
        <p:txBody>
          <a:bodyPr wrap="square" rtlCol="0">
            <a:spAutoFit/>
          </a:bodyPr>
          <a:lstStyle/>
          <a:p>
            <a:r>
              <a:rPr lang="en-US" sz="1600" b="1" i="1" dirty="0">
                <a:solidFill>
                  <a:srgbClr val="BFBFBF"/>
                </a:solidFill>
                <a:latin typeface="Segoe UI" panose="020B0502040204020203" pitchFamily="34" charset="0"/>
                <a:cs typeface="Segoe UI" panose="020B0502040204020203" pitchFamily="34" charset="0"/>
              </a:rPr>
              <a:t>SQL-based transformation enabled structured and analysis-ready data.</a:t>
            </a:r>
            <a:endParaRPr lang="en-IN" sz="1600" b="1" i="1" dirty="0">
              <a:solidFill>
                <a:srgbClr val="BFBFBF"/>
              </a:solidFill>
              <a:latin typeface="Segoe UI" panose="020B0502040204020203" pitchFamily="34" charset="0"/>
              <a:cs typeface="Segoe UI" panose="020B0502040204020203" pitchFamily="34" charset="0"/>
            </a:endParaRPr>
          </a:p>
        </p:txBody>
      </p:sp>
      <p:grpSp>
        <p:nvGrpSpPr>
          <p:cNvPr id="15" name="Group 14">
            <a:extLst>
              <a:ext uri="{FF2B5EF4-FFF2-40B4-BE49-F238E27FC236}">
                <a16:creationId xmlns:a16="http://schemas.microsoft.com/office/drawing/2014/main" id="{3755B43A-B925-3FBF-4BE2-05DA0DF31A3D}"/>
              </a:ext>
            </a:extLst>
          </p:cNvPr>
          <p:cNvGrpSpPr/>
          <p:nvPr/>
        </p:nvGrpSpPr>
        <p:grpSpPr>
          <a:xfrm>
            <a:off x="3589020" y="2961767"/>
            <a:ext cx="1819003" cy="1077218"/>
            <a:chOff x="3602083" y="2961767"/>
            <a:chExt cx="1819003" cy="1077219"/>
          </a:xfrm>
        </p:grpSpPr>
        <p:sp>
          <p:nvSpPr>
            <p:cNvPr id="9" name="TextBox 8">
              <a:extLst>
                <a:ext uri="{FF2B5EF4-FFF2-40B4-BE49-F238E27FC236}">
                  <a16:creationId xmlns:a16="http://schemas.microsoft.com/office/drawing/2014/main" id="{27C94F2E-D818-3A90-4EF2-31000AB540D3}"/>
                </a:ext>
              </a:extLst>
            </p:cNvPr>
            <p:cNvSpPr txBox="1"/>
            <p:nvPr/>
          </p:nvSpPr>
          <p:spPr>
            <a:xfrm>
              <a:off x="3602083" y="2961767"/>
              <a:ext cx="1819003" cy="1077219"/>
            </a:xfrm>
            <a:prstGeom prst="rect">
              <a:avLst/>
            </a:prstGeom>
            <a:noFill/>
          </p:spPr>
          <p:txBody>
            <a:bodyPr wrap="square" rtlCol="0">
              <a:spAutoFit/>
            </a:bodyPr>
            <a:lstStyle/>
            <a:p>
              <a:r>
                <a:rPr lang="en-US" sz="1600" b="1" dirty="0">
                  <a:solidFill>
                    <a:srgbClr val="FFE600"/>
                  </a:solidFill>
                  <a:latin typeface="Segoe UI" panose="020B0502040204020203" pitchFamily="34" charset="0"/>
                  <a:cs typeface="Segoe UI" panose="020B0502040204020203" pitchFamily="34" charset="0"/>
                </a:rPr>
                <a:t>Raw Data  </a:t>
              </a:r>
            </a:p>
            <a:p>
              <a:r>
                <a:rPr lang="en-US" sz="1600" b="1" dirty="0">
                  <a:solidFill>
                    <a:srgbClr val="FFE600"/>
                  </a:solidFill>
                  <a:latin typeface="Segoe UI" panose="020B0502040204020203" pitchFamily="34" charset="0"/>
                  <a:cs typeface="Segoe UI" panose="020B0502040204020203" pitchFamily="34" charset="0"/>
                </a:rPr>
                <a:t>      </a:t>
              </a:r>
            </a:p>
            <a:p>
              <a:r>
                <a:rPr lang="en-US" sz="1600" b="1" dirty="0">
                  <a:solidFill>
                    <a:srgbClr val="FFE600"/>
                  </a:solidFill>
                  <a:latin typeface="Segoe UI" panose="020B0502040204020203" pitchFamily="34" charset="0"/>
                  <a:cs typeface="Segoe UI" panose="020B0502040204020203" pitchFamily="34" charset="0"/>
                </a:rPr>
                <a:t>Structured </a:t>
              </a:r>
            </a:p>
            <a:p>
              <a:r>
                <a:rPr lang="en-US" sz="1600" b="1" dirty="0">
                  <a:solidFill>
                    <a:srgbClr val="FFE600"/>
                  </a:solidFill>
                  <a:latin typeface="Segoe UI" panose="020B0502040204020203" pitchFamily="34" charset="0"/>
                  <a:cs typeface="Segoe UI" panose="020B0502040204020203" pitchFamily="34" charset="0"/>
                </a:rPr>
                <a:t>    Data </a:t>
              </a:r>
              <a:endParaRPr lang="en-IN" sz="1600" b="1" dirty="0">
                <a:solidFill>
                  <a:srgbClr val="FFE600"/>
                </a:solidFill>
                <a:latin typeface="Segoe UI" panose="020B0502040204020203" pitchFamily="34" charset="0"/>
                <a:cs typeface="Segoe UI" panose="020B0502040204020203" pitchFamily="34" charset="0"/>
              </a:endParaRPr>
            </a:p>
          </p:txBody>
        </p:sp>
        <p:sp>
          <p:nvSpPr>
            <p:cNvPr id="14" name="Arrow: Down 13">
              <a:extLst>
                <a:ext uri="{FF2B5EF4-FFF2-40B4-BE49-F238E27FC236}">
                  <a16:creationId xmlns:a16="http://schemas.microsoft.com/office/drawing/2014/main" id="{77CD184D-EDE5-5700-DF36-0B595A983595}"/>
                </a:ext>
              </a:extLst>
            </p:cNvPr>
            <p:cNvSpPr/>
            <p:nvPr/>
          </p:nvSpPr>
          <p:spPr>
            <a:xfrm>
              <a:off x="4065815" y="3290485"/>
              <a:ext cx="156755" cy="161373"/>
            </a:xfrm>
            <a:prstGeom prst="downArrow">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6" name="Flowchart: Connector 15">
            <a:extLst>
              <a:ext uri="{FF2B5EF4-FFF2-40B4-BE49-F238E27FC236}">
                <a16:creationId xmlns:a16="http://schemas.microsoft.com/office/drawing/2014/main" id="{B4A77DBC-CE8E-F7A4-C944-A987945CD74F}"/>
              </a:ext>
            </a:extLst>
          </p:cNvPr>
          <p:cNvSpPr/>
          <p:nvPr/>
        </p:nvSpPr>
        <p:spPr>
          <a:xfrm>
            <a:off x="1933303" y="6268251"/>
            <a:ext cx="215536" cy="209926"/>
          </a:xfrm>
          <a:prstGeom prst="flowChartConnector">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1232609"/>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8D4B5-2162-52ED-D45F-127D55E6AB3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E2C4EC-0885-5449-C50E-1C75133E6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3F33C1D-E044-1DE7-5C1F-119AD49C0B26}"/>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04</a:t>
            </a:r>
            <a:endParaRPr lang="en-IN" sz="9600" dirty="0">
              <a:solidFill>
                <a:srgbClr val="FFE600"/>
              </a:solidFill>
            </a:endParaRPr>
          </a:p>
        </p:txBody>
      </p:sp>
      <p:sp>
        <p:nvSpPr>
          <p:cNvPr id="6" name="Oval 5">
            <a:extLst>
              <a:ext uri="{FF2B5EF4-FFF2-40B4-BE49-F238E27FC236}">
                <a16:creationId xmlns:a16="http://schemas.microsoft.com/office/drawing/2014/main" id="{ACCF0335-E355-6F7A-676B-B6FB1CE1ADE7}"/>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B99BF9E-5299-8A5A-7FDC-179518BECDCE}"/>
              </a:ext>
            </a:extLst>
          </p:cNvPr>
          <p:cNvSpPr txBox="1"/>
          <p:nvPr/>
        </p:nvSpPr>
        <p:spPr>
          <a:xfrm>
            <a:off x="1463040" y="3315266"/>
            <a:ext cx="5512525" cy="1446550"/>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DATA</a:t>
            </a:r>
          </a:p>
          <a:p>
            <a:r>
              <a:rPr lang="en-IN" sz="4400" dirty="0">
                <a:solidFill>
                  <a:schemeClr val="bg1"/>
                </a:solidFill>
                <a:latin typeface="Segoe UI" panose="020B0502040204020203" pitchFamily="34" charset="0"/>
                <a:cs typeface="Segoe UI" panose="020B0502040204020203" pitchFamily="34" charset="0"/>
              </a:rPr>
              <a:t>MODELING</a:t>
            </a:r>
          </a:p>
        </p:txBody>
      </p:sp>
      <p:sp>
        <p:nvSpPr>
          <p:cNvPr id="9" name="Rectangle 8">
            <a:extLst>
              <a:ext uri="{FF2B5EF4-FFF2-40B4-BE49-F238E27FC236}">
                <a16:creationId xmlns:a16="http://schemas.microsoft.com/office/drawing/2014/main" id="{B44690A2-6655-AADF-988B-742D139D4C77}"/>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3694D70-32F9-490C-3DAB-2EA3BD7BC9A5}"/>
              </a:ext>
            </a:extLst>
          </p:cNvPr>
          <p:cNvSpPr txBox="1"/>
          <p:nvPr/>
        </p:nvSpPr>
        <p:spPr>
          <a:xfrm>
            <a:off x="1463040" y="4984050"/>
            <a:ext cx="9353006" cy="830997"/>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Designing structured data models by organizing data into logical tables and defining relationships for efficient analysis.</a:t>
            </a:r>
          </a:p>
          <a:p>
            <a:r>
              <a:rPr lang="en-IN" sz="1600" dirty="0">
                <a:solidFill>
                  <a:srgbClr val="CFCFCF"/>
                </a:solidFill>
                <a:latin typeface="Segoe UI" panose="020B0502040204020203" pitchFamily="34" charset="0"/>
                <a:cs typeface="Segoe UI" panose="020B0502040204020203" pitchFamily="34" charset="0"/>
              </a:rPr>
              <a:t>Table Design | Relationships | Optimization</a:t>
            </a:r>
          </a:p>
        </p:txBody>
      </p:sp>
    </p:spTree>
    <p:extLst>
      <p:ext uri="{BB962C8B-B14F-4D97-AF65-F5344CB8AC3E}">
        <p14:creationId xmlns:p14="http://schemas.microsoft.com/office/powerpoint/2010/main" val="4076633814"/>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24E85-7FB5-D48C-4EA5-CBC74579C0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16477D-306A-439D-A97C-A9DB7F111A67}"/>
              </a:ext>
            </a:extLst>
          </p:cNvPr>
          <p:cNvSpPr txBox="1"/>
          <p:nvPr/>
        </p:nvSpPr>
        <p:spPr>
          <a:xfrm>
            <a:off x="117566" y="45719"/>
            <a:ext cx="4389120" cy="707886"/>
          </a:xfrm>
          <a:prstGeom prst="rect">
            <a:avLst/>
          </a:prstGeom>
          <a:noFill/>
        </p:spPr>
        <p:txBody>
          <a:bodyPr wrap="square" rtlCol="0">
            <a:spAutoFit/>
          </a:bodyPr>
          <a:lstStyle/>
          <a:p>
            <a:r>
              <a:rPr lang="en-IN" sz="4000" dirty="0">
                <a:solidFill>
                  <a:schemeClr val="bg1"/>
                </a:solidFill>
              </a:rPr>
              <a:t>DATA MODELING</a:t>
            </a:r>
          </a:p>
        </p:txBody>
      </p:sp>
      <p:sp>
        <p:nvSpPr>
          <p:cNvPr id="5" name="Rectangle 4">
            <a:extLst>
              <a:ext uri="{FF2B5EF4-FFF2-40B4-BE49-F238E27FC236}">
                <a16:creationId xmlns:a16="http://schemas.microsoft.com/office/drawing/2014/main" id="{B2A85D1F-94DD-FAF9-5331-D1D9C897A121}"/>
              </a:ext>
            </a:extLst>
          </p:cNvPr>
          <p:cNvSpPr/>
          <p:nvPr/>
        </p:nvSpPr>
        <p:spPr>
          <a:xfrm flipV="1">
            <a:off x="261256" y="730743"/>
            <a:ext cx="3467463"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1848C991-F590-6146-3D33-FA1427B1B5B1}"/>
              </a:ext>
            </a:extLst>
          </p:cNvPr>
          <p:cNvSpPr txBox="1"/>
          <p:nvPr/>
        </p:nvSpPr>
        <p:spPr>
          <a:xfrm>
            <a:off x="261256" y="1188720"/>
            <a:ext cx="2959464" cy="2995372"/>
          </a:xfrm>
          <a:prstGeom prst="rect">
            <a:avLst/>
          </a:prstGeom>
          <a:solidFill>
            <a:schemeClr val="bg2">
              <a:lumMod val="50000"/>
            </a:schemeClr>
          </a:solidFill>
          <a:ln>
            <a:solidFill>
              <a:srgbClr val="FFE600"/>
            </a:solidFill>
          </a:ln>
        </p:spPr>
        <p:txBody>
          <a:bodyPr wrap="square" rtlCol="0">
            <a:spAutoFit/>
          </a:bodyPr>
          <a:lstStyle/>
          <a:p>
            <a:pPr>
              <a:lnSpc>
                <a:spcPct val="150000"/>
              </a:lnSpc>
            </a:pPr>
            <a:r>
              <a:rPr lang="en-US" sz="2000" b="1" dirty="0">
                <a:solidFill>
                  <a:schemeClr val="bg1"/>
                </a:solidFill>
                <a:latin typeface="Segoe UI" panose="020B0502040204020203" pitchFamily="34" charset="0"/>
                <a:cs typeface="Segoe UI" panose="020B0502040204020203" pitchFamily="34" charset="0"/>
              </a:rPr>
              <a:t>Why Data Modeling?</a:t>
            </a:r>
          </a:p>
          <a:p>
            <a:pPr>
              <a:lnSpc>
                <a:spcPct val="150000"/>
              </a:lnSpc>
            </a:pPr>
            <a:endParaRPr lang="en-US" dirty="0">
              <a:solidFill>
                <a:schemeClr val="bg1"/>
              </a:solidFill>
              <a:latin typeface="Segoe UI" panose="020B0502040204020203" pitchFamily="34" charset="0"/>
              <a:cs typeface="Segoe UI" panose="020B0502040204020203" pitchFamily="34" charset="0"/>
            </a:endParaRPr>
          </a:p>
          <a:p>
            <a:pPr>
              <a:lnSpc>
                <a:spcPct val="150000"/>
              </a:lnSpc>
            </a:pPr>
            <a:r>
              <a:rPr lang="en-US" dirty="0">
                <a:solidFill>
                  <a:schemeClr val="bg1"/>
                </a:solidFill>
                <a:latin typeface="Segoe UI" panose="020B0502040204020203" pitchFamily="34" charset="0"/>
                <a:cs typeface="Segoe UI" panose="020B0502040204020203" pitchFamily="34" charset="0"/>
              </a:rPr>
              <a:t>Improved Data Organization  </a:t>
            </a:r>
          </a:p>
          <a:p>
            <a:pPr>
              <a:lnSpc>
                <a:spcPct val="150000"/>
              </a:lnSpc>
            </a:pPr>
            <a:r>
              <a:rPr lang="en-US" dirty="0">
                <a:solidFill>
                  <a:schemeClr val="bg1"/>
                </a:solidFill>
                <a:latin typeface="Segoe UI" panose="020B0502040204020203" pitchFamily="34" charset="0"/>
                <a:cs typeface="Segoe UI" panose="020B0502040204020203" pitchFamily="34" charset="0"/>
              </a:rPr>
              <a:t>Reduced Data Redundancy  </a:t>
            </a:r>
          </a:p>
          <a:p>
            <a:pPr>
              <a:lnSpc>
                <a:spcPct val="150000"/>
              </a:lnSpc>
            </a:pPr>
            <a:r>
              <a:rPr lang="en-US" dirty="0">
                <a:solidFill>
                  <a:schemeClr val="bg1"/>
                </a:solidFill>
                <a:latin typeface="Segoe UI" panose="020B0502040204020203" pitchFamily="34" charset="0"/>
                <a:cs typeface="Segoe UI" panose="020B0502040204020203" pitchFamily="34" charset="0"/>
              </a:rPr>
              <a:t>Better Query Performance  </a:t>
            </a:r>
          </a:p>
          <a:p>
            <a:pPr>
              <a:lnSpc>
                <a:spcPct val="150000"/>
              </a:lnSpc>
            </a:pPr>
            <a:r>
              <a:rPr lang="en-US" dirty="0">
                <a:solidFill>
                  <a:schemeClr val="bg1"/>
                </a:solidFill>
                <a:latin typeface="Segoe UI" panose="020B0502040204020203" pitchFamily="34" charset="0"/>
                <a:cs typeface="Segoe UI" panose="020B0502040204020203" pitchFamily="34" charset="0"/>
              </a:rPr>
              <a:t>Defined Table Relationships</a:t>
            </a:r>
            <a:endParaRPr lang="en-IN" dirty="0">
              <a:solidFill>
                <a:schemeClr val="bg1"/>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5E8DEE0B-38D1-A160-DBD1-3215F4613670}"/>
              </a:ext>
            </a:extLst>
          </p:cNvPr>
          <p:cNvSpPr txBox="1"/>
          <p:nvPr/>
        </p:nvSpPr>
        <p:spPr>
          <a:xfrm>
            <a:off x="5572807" y="1349258"/>
            <a:ext cx="2959465" cy="2533707"/>
          </a:xfrm>
          <a:prstGeom prst="rect">
            <a:avLst/>
          </a:prstGeom>
          <a:solidFill>
            <a:schemeClr val="bg2">
              <a:lumMod val="50000"/>
            </a:schemeClr>
          </a:solidFill>
          <a:ln w="6350" cmpd="dbl">
            <a:solidFill>
              <a:srgbClr val="FFE600"/>
            </a:solidFill>
          </a:ln>
        </p:spPr>
        <p:txBody>
          <a:bodyPr wrap="square" rtlCol="0">
            <a:spAutoFit/>
          </a:bodyPr>
          <a:lstStyle/>
          <a:p>
            <a:pPr>
              <a:lnSpc>
                <a:spcPct val="150000"/>
              </a:lnSpc>
            </a:pPr>
            <a:r>
              <a:rPr lang="en-US" dirty="0">
                <a:solidFill>
                  <a:schemeClr val="bg1"/>
                </a:solidFill>
                <a:latin typeface="Segoe UI" panose="020B0502040204020203" pitchFamily="34" charset="0"/>
                <a:cs typeface="Segoe UI" panose="020B0502040204020203" pitchFamily="34" charset="0"/>
              </a:rPr>
              <a:t>Customers</a:t>
            </a:r>
          </a:p>
          <a:p>
            <a:pPr>
              <a:lnSpc>
                <a:spcPct val="150000"/>
              </a:lnSpc>
            </a:pPr>
            <a:endParaRPr lang="en-US" dirty="0">
              <a:solidFill>
                <a:schemeClr val="bg1"/>
              </a:solidFill>
              <a:latin typeface="Segoe UI" panose="020B0502040204020203" pitchFamily="34" charset="0"/>
              <a:cs typeface="Segoe UI" panose="020B0502040204020203" pitchFamily="34" charset="0"/>
            </a:endParaRPr>
          </a:p>
          <a:p>
            <a:pPr>
              <a:lnSpc>
                <a:spcPct val="150000"/>
              </a:lnSpc>
            </a:pPr>
            <a:endParaRPr lang="en-US" dirty="0">
              <a:solidFill>
                <a:schemeClr val="bg1"/>
              </a:solidFill>
              <a:latin typeface="Segoe UI" panose="020B0502040204020203" pitchFamily="34" charset="0"/>
              <a:cs typeface="Segoe UI" panose="020B0502040204020203" pitchFamily="34" charset="0"/>
            </a:endParaRPr>
          </a:p>
          <a:p>
            <a:pPr>
              <a:lnSpc>
                <a:spcPct val="150000"/>
              </a:lnSpc>
            </a:pPr>
            <a:r>
              <a:rPr lang="en-US" dirty="0">
                <a:solidFill>
                  <a:schemeClr val="bg1"/>
                </a:solidFill>
                <a:latin typeface="Segoe UI" panose="020B0502040204020203" pitchFamily="34" charset="0"/>
                <a:cs typeface="Segoe UI" panose="020B0502040204020203" pitchFamily="34" charset="0"/>
              </a:rPr>
              <a:t>policy_id  </a:t>
            </a:r>
          </a:p>
          <a:p>
            <a:pPr>
              <a:lnSpc>
                <a:spcPct val="150000"/>
              </a:lnSpc>
            </a:pPr>
            <a:r>
              <a:rPr lang="en-US" dirty="0">
                <a:solidFill>
                  <a:schemeClr val="bg1"/>
                </a:solidFill>
                <a:latin typeface="Segoe UI" panose="020B0502040204020203" pitchFamily="34" charset="0"/>
                <a:cs typeface="Segoe UI" panose="020B0502040204020203" pitchFamily="34" charset="0"/>
              </a:rPr>
              <a:t>customer_age  </a:t>
            </a:r>
          </a:p>
          <a:p>
            <a:pPr>
              <a:lnSpc>
                <a:spcPct val="150000"/>
              </a:lnSpc>
            </a:pPr>
            <a:r>
              <a:rPr lang="en-US" dirty="0">
                <a:solidFill>
                  <a:schemeClr val="bg1"/>
                </a:solidFill>
                <a:latin typeface="Segoe UI" panose="020B0502040204020203" pitchFamily="34" charset="0"/>
                <a:cs typeface="Segoe UI" panose="020B0502040204020203" pitchFamily="34" charset="0"/>
              </a:rPr>
              <a:t>region_code</a:t>
            </a:r>
            <a:endParaRPr lang="en-IN" dirty="0">
              <a:solidFill>
                <a:schemeClr val="bg1"/>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312A058-CAA3-E5DB-2FB3-70FFFBBD1EB2}"/>
              </a:ext>
            </a:extLst>
          </p:cNvPr>
          <p:cNvSpPr txBox="1"/>
          <p:nvPr/>
        </p:nvSpPr>
        <p:spPr>
          <a:xfrm>
            <a:off x="8895741" y="1340479"/>
            <a:ext cx="2959464" cy="2533707"/>
          </a:xfrm>
          <a:prstGeom prst="rect">
            <a:avLst/>
          </a:prstGeom>
          <a:solidFill>
            <a:schemeClr val="bg2">
              <a:lumMod val="50000"/>
            </a:schemeClr>
          </a:solidFill>
          <a:ln>
            <a:solidFill>
              <a:srgbClr val="FFE600"/>
            </a:solidFill>
          </a:ln>
        </p:spPr>
        <p:txBody>
          <a:bodyPr wrap="square" rtlCol="0">
            <a:spAutoFit/>
          </a:bodyPr>
          <a:lstStyle/>
          <a:p>
            <a:pPr>
              <a:lnSpc>
                <a:spcPct val="150000"/>
              </a:lnSpc>
            </a:pPr>
            <a:r>
              <a:rPr lang="en-US" dirty="0">
                <a:solidFill>
                  <a:schemeClr val="bg1"/>
                </a:solidFill>
                <a:latin typeface="Segoe UI" panose="020B0502040204020203" pitchFamily="34" charset="0"/>
                <a:cs typeface="Segoe UI" panose="020B0502040204020203" pitchFamily="34" charset="0"/>
              </a:rPr>
              <a:t>Vehicles</a:t>
            </a:r>
          </a:p>
          <a:p>
            <a:pPr>
              <a:lnSpc>
                <a:spcPct val="150000"/>
              </a:lnSpc>
            </a:pPr>
            <a:endParaRPr lang="en-US" dirty="0">
              <a:solidFill>
                <a:schemeClr val="bg1"/>
              </a:solidFill>
              <a:latin typeface="Segoe UI" panose="020B0502040204020203" pitchFamily="34" charset="0"/>
              <a:cs typeface="Segoe UI" panose="020B0502040204020203" pitchFamily="34" charset="0"/>
            </a:endParaRPr>
          </a:p>
          <a:p>
            <a:pPr>
              <a:lnSpc>
                <a:spcPct val="150000"/>
              </a:lnSpc>
            </a:pPr>
            <a:r>
              <a:rPr lang="en-US" dirty="0">
                <a:solidFill>
                  <a:schemeClr val="bg1"/>
                </a:solidFill>
                <a:latin typeface="Segoe UI" panose="020B0502040204020203" pitchFamily="34" charset="0"/>
                <a:cs typeface="Segoe UI" panose="020B0502040204020203" pitchFamily="34" charset="0"/>
              </a:rPr>
              <a:t>policy_id  </a:t>
            </a:r>
          </a:p>
          <a:p>
            <a:pPr>
              <a:lnSpc>
                <a:spcPct val="150000"/>
              </a:lnSpc>
            </a:pPr>
            <a:r>
              <a:rPr lang="en-US" dirty="0">
                <a:solidFill>
                  <a:schemeClr val="bg1"/>
                </a:solidFill>
                <a:latin typeface="Segoe UI" panose="020B0502040204020203" pitchFamily="34" charset="0"/>
                <a:cs typeface="Segoe UI" panose="020B0502040204020203" pitchFamily="34" charset="0"/>
              </a:rPr>
              <a:t>vehicle_age  </a:t>
            </a:r>
          </a:p>
          <a:p>
            <a:pPr>
              <a:lnSpc>
                <a:spcPct val="150000"/>
              </a:lnSpc>
            </a:pPr>
            <a:r>
              <a:rPr lang="en-US" dirty="0">
                <a:solidFill>
                  <a:schemeClr val="bg1"/>
                </a:solidFill>
                <a:latin typeface="Segoe UI" panose="020B0502040204020203" pitchFamily="34" charset="0"/>
                <a:cs typeface="Segoe UI" panose="020B0502040204020203" pitchFamily="34" charset="0"/>
              </a:rPr>
              <a:t>fuel_type  </a:t>
            </a:r>
          </a:p>
          <a:p>
            <a:pPr>
              <a:lnSpc>
                <a:spcPct val="150000"/>
              </a:lnSpc>
            </a:pPr>
            <a:r>
              <a:rPr lang="en-US" dirty="0">
                <a:solidFill>
                  <a:schemeClr val="bg1"/>
                </a:solidFill>
                <a:latin typeface="Segoe UI" panose="020B0502040204020203" pitchFamily="34" charset="0"/>
                <a:cs typeface="Segoe UI" panose="020B0502040204020203" pitchFamily="34" charset="0"/>
              </a:rPr>
              <a:t>max_power</a:t>
            </a:r>
            <a:endParaRPr lang="en-IN" dirty="0">
              <a:solidFill>
                <a:schemeClr val="bg1"/>
              </a:soli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DE66D834-F430-1CFF-A27C-C46EB3D6EB76}"/>
              </a:ext>
            </a:extLst>
          </p:cNvPr>
          <p:cNvSpPr txBox="1"/>
          <p:nvPr/>
        </p:nvSpPr>
        <p:spPr>
          <a:xfrm>
            <a:off x="3552612" y="2728650"/>
            <a:ext cx="1715534" cy="307777"/>
          </a:xfrm>
          <a:prstGeom prst="rect">
            <a:avLst/>
          </a:prstGeom>
          <a:noFill/>
        </p:spPr>
        <p:txBody>
          <a:bodyPr wrap="none" rtlCol="0">
            <a:spAutoFit/>
          </a:bodyPr>
          <a:lstStyle/>
          <a:p>
            <a:r>
              <a:rPr lang="en-IN" sz="1400" b="1" dirty="0">
                <a:solidFill>
                  <a:srgbClr val="FFE600"/>
                </a:solidFill>
                <a:latin typeface="Segoe UI" panose="020B0502040204020203" pitchFamily="34" charset="0"/>
                <a:cs typeface="Segoe UI" panose="020B0502040204020203" pitchFamily="34" charset="0"/>
              </a:rPr>
              <a:t>JOIN ON policy_id</a:t>
            </a:r>
          </a:p>
        </p:txBody>
      </p:sp>
      <p:sp>
        <p:nvSpPr>
          <p:cNvPr id="13" name="TextBox 12">
            <a:extLst>
              <a:ext uri="{FF2B5EF4-FFF2-40B4-BE49-F238E27FC236}">
                <a16:creationId xmlns:a16="http://schemas.microsoft.com/office/drawing/2014/main" id="{C1B7532C-897E-2398-2C19-AF75374EFCC0}"/>
              </a:ext>
            </a:extLst>
          </p:cNvPr>
          <p:cNvSpPr txBox="1"/>
          <p:nvPr/>
        </p:nvSpPr>
        <p:spPr>
          <a:xfrm>
            <a:off x="3300972" y="4950259"/>
            <a:ext cx="5590056" cy="369332"/>
          </a:xfrm>
          <a:prstGeom prst="rect">
            <a:avLst/>
          </a:prstGeom>
          <a:noFill/>
        </p:spPr>
        <p:txBody>
          <a:bodyPr wrap="none" rtlCol="0">
            <a:spAutoFit/>
          </a:bodyPr>
          <a:lstStyle/>
          <a:p>
            <a:r>
              <a:rPr lang="en-US" b="1" dirty="0">
                <a:solidFill>
                  <a:srgbClr val="FFE600"/>
                </a:solidFill>
                <a:latin typeface="Segoe UI" panose="020B0502040204020203" pitchFamily="34" charset="0"/>
                <a:cs typeface="Segoe UI" panose="020B0502040204020203" pitchFamily="34" charset="0"/>
              </a:rPr>
              <a:t>Raw Data → Structured Tables → Efficient Analysis</a:t>
            </a:r>
            <a:endParaRPr lang="en-IN" b="1" dirty="0">
              <a:solidFill>
                <a:srgbClr val="FFE600"/>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E2D42623-C384-E06A-D89F-8D2912509CAA}"/>
              </a:ext>
            </a:extLst>
          </p:cNvPr>
          <p:cNvSpPr txBox="1"/>
          <p:nvPr/>
        </p:nvSpPr>
        <p:spPr>
          <a:xfrm>
            <a:off x="2046514" y="5748686"/>
            <a:ext cx="8098972" cy="338554"/>
          </a:xfrm>
          <a:prstGeom prst="rect">
            <a:avLst/>
          </a:prstGeom>
          <a:noFill/>
        </p:spPr>
        <p:txBody>
          <a:bodyPr wrap="square" rtlCol="0">
            <a:spAutoFit/>
          </a:bodyPr>
          <a:lstStyle/>
          <a:p>
            <a:pPr algn="ctr"/>
            <a:r>
              <a:rPr lang="en-US" sz="1600" b="1" i="1" dirty="0">
                <a:solidFill>
                  <a:srgbClr val="BFBFBF"/>
                </a:solidFill>
                <a:latin typeface="Segoe UI" panose="020B0502040204020203" pitchFamily="34" charset="0"/>
                <a:cs typeface="Segoe UI" panose="020B0502040204020203" pitchFamily="34" charset="0"/>
              </a:rPr>
              <a:t>      Data modeling ensured structured storage and enabled efficient data retrieval.</a:t>
            </a:r>
            <a:endParaRPr lang="en-IN" sz="1600" b="1" i="1" dirty="0">
              <a:solidFill>
                <a:srgbClr val="BFBFBF"/>
              </a:solidFill>
              <a:latin typeface="Segoe UI" panose="020B0502040204020203" pitchFamily="34" charset="0"/>
              <a:cs typeface="Segoe UI" panose="020B0502040204020203" pitchFamily="34" charset="0"/>
            </a:endParaRPr>
          </a:p>
        </p:txBody>
      </p:sp>
      <p:sp>
        <p:nvSpPr>
          <p:cNvPr id="15" name="Flowchart: Connector 14">
            <a:extLst>
              <a:ext uri="{FF2B5EF4-FFF2-40B4-BE49-F238E27FC236}">
                <a16:creationId xmlns:a16="http://schemas.microsoft.com/office/drawing/2014/main" id="{48B6F51C-E91B-45E3-35F8-56A556941088}"/>
              </a:ext>
            </a:extLst>
          </p:cNvPr>
          <p:cNvSpPr/>
          <p:nvPr/>
        </p:nvSpPr>
        <p:spPr>
          <a:xfrm>
            <a:off x="2204358" y="5813000"/>
            <a:ext cx="215536" cy="209926"/>
          </a:xfrm>
          <a:prstGeom prst="flowChartConnector">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113D21CD-3827-EEF1-7C9B-EDDA66591DB4}"/>
              </a:ext>
            </a:extLst>
          </p:cNvPr>
          <p:cNvSpPr/>
          <p:nvPr/>
        </p:nvSpPr>
        <p:spPr>
          <a:xfrm>
            <a:off x="4064213" y="2168199"/>
            <a:ext cx="692331" cy="439133"/>
          </a:xfrm>
          <a:prstGeom prst="rightArrow">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463502967"/>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DD732-7B7B-B13E-0850-21980D3E50F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419C6E2-64F3-1E5F-6640-FF1499A18D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2345D92-7BF6-3CF8-9F62-66781D71AD5A}"/>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05</a:t>
            </a:r>
            <a:endParaRPr lang="en-IN" sz="9600" dirty="0">
              <a:solidFill>
                <a:srgbClr val="FFE600"/>
              </a:solidFill>
            </a:endParaRPr>
          </a:p>
        </p:txBody>
      </p:sp>
      <p:sp>
        <p:nvSpPr>
          <p:cNvPr id="6" name="Oval 5">
            <a:extLst>
              <a:ext uri="{FF2B5EF4-FFF2-40B4-BE49-F238E27FC236}">
                <a16:creationId xmlns:a16="http://schemas.microsoft.com/office/drawing/2014/main" id="{DDA30B2E-6A3A-CE53-AF26-DCAE237E8824}"/>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31668DB9-C88F-5111-F4F9-EC8483EF7A51}"/>
              </a:ext>
            </a:extLst>
          </p:cNvPr>
          <p:cNvSpPr txBox="1"/>
          <p:nvPr/>
        </p:nvSpPr>
        <p:spPr>
          <a:xfrm>
            <a:off x="1463040" y="3315266"/>
            <a:ext cx="5512525" cy="1446550"/>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DATA</a:t>
            </a:r>
          </a:p>
          <a:p>
            <a:r>
              <a:rPr lang="en-IN" sz="4400" dirty="0">
                <a:solidFill>
                  <a:schemeClr val="bg1"/>
                </a:solidFill>
                <a:latin typeface="Segoe UI" panose="020B0502040204020203" pitchFamily="34" charset="0"/>
                <a:cs typeface="Segoe UI" panose="020B0502040204020203" pitchFamily="34" charset="0"/>
              </a:rPr>
              <a:t>VALIDATION</a:t>
            </a:r>
          </a:p>
        </p:txBody>
      </p:sp>
      <p:sp>
        <p:nvSpPr>
          <p:cNvPr id="9" name="Rectangle 8">
            <a:extLst>
              <a:ext uri="{FF2B5EF4-FFF2-40B4-BE49-F238E27FC236}">
                <a16:creationId xmlns:a16="http://schemas.microsoft.com/office/drawing/2014/main" id="{451B5EEE-2BF6-BDE9-6ACC-C4D577DFA919}"/>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E95B02F-12CB-2866-CB1F-B202CEC6BCD3}"/>
              </a:ext>
            </a:extLst>
          </p:cNvPr>
          <p:cNvSpPr txBox="1"/>
          <p:nvPr/>
        </p:nvSpPr>
        <p:spPr>
          <a:xfrm>
            <a:off x="1463040" y="4984050"/>
            <a:ext cx="9353006" cy="830997"/>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Ensuring data accuracy and integrity by applying validation rules and constraints to prevent incorrect or inconsistent data.</a:t>
            </a:r>
          </a:p>
          <a:p>
            <a:r>
              <a:rPr lang="en-US" sz="1600" dirty="0">
                <a:solidFill>
                  <a:srgbClr val="CFCFCF"/>
                </a:solidFill>
                <a:latin typeface="Segoe UI" panose="020B0502040204020203" pitchFamily="34" charset="0"/>
                <a:cs typeface="Segoe UI" panose="020B0502040204020203" pitchFamily="34" charset="0"/>
              </a:rPr>
              <a:t>Data Integrity | Validation Rules | Accuracy</a:t>
            </a:r>
            <a:endParaRPr lang="en-IN" sz="1600" dirty="0">
              <a:solidFill>
                <a:srgbClr val="CFCFCF"/>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03665988"/>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11D3F-BCE5-5937-E094-5D64985B74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9D4C6D1-DD36-81F0-216B-522FB5EB43EA}"/>
              </a:ext>
            </a:extLst>
          </p:cNvPr>
          <p:cNvSpPr txBox="1"/>
          <p:nvPr/>
        </p:nvSpPr>
        <p:spPr>
          <a:xfrm>
            <a:off x="130628" y="45719"/>
            <a:ext cx="7667897" cy="707886"/>
          </a:xfrm>
          <a:prstGeom prst="rect">
            <a:avLst/>
          </a:prstGeom>
          <a:noFill/>
        </p:spPr>
        <p:txBody>
          <a:bodyPr wrap="square" rtlCol="0">
            <a:spAutoFit/>
          </a:bodyPr>
          <a:lstStyle/>
          <a:p>
            <a:r>
              <a:rPr lang="en-IN" sz="4000" dirty="0">
                <a:solidFill>
                  <a:schemeClr val="bg1"/>
                </a:solidFill>
              </a:rPr>
              <a:t>DATA  VALIDATION</a:t>
            </a:r>
          </a:p>
        </p:txBody>
      </p:sp>
      <p:sp>
        <p:nvSpPr>
          <p:cNvPr id="8" name="Rectangle 7">
            <a:extLst>
              <a:ext uri="{FF2B5EF4-FFF2-40B4-BE49-F238E27FC236}">
                <a16:creationId xmlns:a16="http://schemas.microsoft.com/office/drawing/2014/main" id="{35249BB3-C0C7-E6A8-3E00-8268F91F6C7E}"/>
              </a:ext>
            </a:extLst>
          </p:cNvPr>
          <p:cNvSpPr/>
          <p:nvPr/>
        </p:nvSpPr>
        <p:spPr>
          <a:xfrm flipV="1">
            <a:off x="248194" y="730743"/>
            <a:ext cx="3762103"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E390C88-8740-31CA-AC83-0CD4D5F7BD71}"/>
              </a:ext>
            </a:extLst>
          </p:cNvPr>
          <p:cNvSpPr/>
          <p:nvPr/>
        </p:nvSpPr>
        <p:spPr>
          <a:xfrm>
            <a:off x="248195" y="1137634"/>
            <a:ext cx="5248998" cy="3045998"/>
          </a:xfrm>
          <a:prstGeom prst="rect">
            <a:avLst/>
          </a:prstGeom>
          <a:solidFill>
            <a:srgbClr val="141414"/>
          </a:solidFill>
          <a:ln w="6350">
            <a:solidFill>
              <a:srgbClr val="FFE6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08000" tIns="72000" rtlCol="0" anchor="ctr"/>
          <a:lstStyle/>
          <a:p>
            <a:r>
              <a:rPr lang="en-US" sz="2000" b="1" dirty="0">
                <a:solidFill>
                  <a:srgbClr val="FFE600"/>
                </a:solidFill>
                <a:latin typeface="Segoe UI" panose="020B0502040204020203" pitchFamily="34" charset="0"/>
                <a:cs typeface="Segoe UI" panose="020B0502040204020203" pitchFamily="34" charset="0"/>
              </a:rPr>
              <a:t>Ensuring Data Integrity</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To maintain data quality, validation was required </a:t>
            </a:r>
          </a:p>
          <a:p>
            <a:r>
              <a:rPr lang="en-US" dirty="0">
                <a:latin typeface="Segoe UI" panose="020B0502040204020203" pitchFamily="34" charset="0"/>
                <a:cs typeface="Segoe UI" panose="020B0502040204020203" pitchFamily="34" charset="0"/>
              </a:rPr>
              <a:t>to prevent incorrect or unrealistic entries.</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Key Risk:</a:t>
            </a:r>
          </a:p>
          <a:p>
            <a:r>
              <a:rPr lang="en-US" dirty="0">
                <a:latin typeface="Segoe UI" panose="020B0502040204020203" pitchFamily="34" charset="0"/>
                <a:cs typeface="Segoe UI" panose="020B0502040204020203" pitchFamily="34" charset="0"/>
              </a:rPr>
              <a:t>• Invalid customer age  </a:t>
            </a:r>
          </a:p>
          <a:p>
            <a:r>
              <a:rPr lang="en-US" dirty="0">
                <a:latin typeface="Segoe UI" panose="020B0502040204020203" pitchFamily="34" charset="0"/>
                <a:cs typeface="Segoe UI" panose="020B0502040204020203" pitchFamily="34" charset="0"/>
              </a:rPr>
              <a:t>• Data inconsistency  </a:t>
            </a:r>
          </a:p>
          <a:p>
            <a:r>
              <a:rPr lang="en-US" dirty="0">
                <a:latin typeface="Segoe UI" panose="020B0502040204020203" pitchFamily="34" charset="0"/>
                <a:cs typeface="Segoe UI" panose="020B0502040204020203" pitchFamily="34" charset="0"/>
              </a:rPr>
              <a:t>• Incorrect insights</a:t>
            </a:r>
            <a:endParaRPr lang="en-IN" dirty="0">
              <a:latin typeface="Segoe UI" panose="020B0502040204020203" pitchFamily="34" charset="0"/>
              <a:cs typeface="Segoe UI" panose="020B0502040204020203" pitchFamily="34" charset="0"/>
            </a:endParaRPr>
          </a:p>
        </p:txBody>
      </p:sp>
      <p:cxnSp>
        <p:nvCxnSpPr>
          <p:cNvPr id="18" name="Straight Connector 17">
            <a:extLst>
              <a:ext uri="{FF2B5EF4-FFF2-40B4-BE49-F238E27FC236}">
                <a16:creationId xmlns:a16="http://schemas.microsoft.com/office/drawing/2014/main" id="{C26D229B-C3B3-B575-3B64-2AE1F108CB91}"/>
              </a:ext>
            </a:extLst>
          </p:cNvPr>
          <p:cNvCxnSpPr>
            <a:cxnSpLocks/>
          </p:cNvCxnSpPr>
          <p:nvPr/>
        </p:nvCxnSpPr>
        <p:spPr>
          <a:xfrm>
            <a:off x="8229600" y="1235605"/>
            <a:ext cx="0" cy="3045998"/>
          </a:xfrm>
          <a:prstGeom prst="line">
            <a:avLst/>
          </a:prstGeom>
          <a:ln w="38100">
            <a:solidFill>
              <a:srgbClr val="FFE6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5FD3D94-7997-0EF9-9713-D1B4F5E668A2}"/>
              </a:ext>
            </a:extLst>
          </p:cNvPr>
          <p:cNvSpPr txBox="1"/>
          <p:nvPr/>
        </p:nvSpPr>
        <p:spPr>
          <a:xfrm>
            <a:off x="8327112" y="1235605"/>
            <a:ext cx="3775166" cy="2302875"/>
          </a:xfrm>
          <a:prstGeom prst="rect">
            <a:avLst/>
          </a:prstGeom>
          <a:noFill/>
        </p:spPr>
        <p:txBody>
          <a:bodyPr wrap="square" rtlCol="0">
            <a:spAutoFit/>
          </a:bodyPr>
          <a:lstStyle/>
          <a:p>
            <a:pPr>
              <a:lnSpc>
                <a:spcPct val="150000"/>
              </a:lnSpc>
            </a:pPr>
            <a:r>
              <a:rPr lang="en-US" sz="2200" b="1" dirty="0">
                <a:solidFill>
                  <a:srgbClr val="FFE600"/>
                </a:solidFill>
                <a:latin typeface="Segoe UI" panose="020B0502040204020203" pitchFamily="34" charset="0"/>
                <a:cs typeface="Segoe UI" panose="020B0502040204020203" pitchFamily="34" charset="0"/>
              </a:rPr>
              <a:t>Trigger-Based Validation</a:t>
            </a:r>
          </a:p>
          <a:p>
            <a:pPr>
              <a:lnSpc>
                <a:spcPct val="150000"/>
              </a:lnSpc>
            </a:pPr>
            <a:endParaRPr lang="en-US" sz="2200" dirty="0">
              <a:solidFill>
                <a:schemeClr val="bg1"/>
              </a:solidFill>
              <a:latin typeface="Segoe UI" panose="020B0502040204020203" pitchFamily="34" charset="0"/>
              <a:cs typeface="Segoe UI" panose="020B0502040204020203" pitchFamily="34" charset="0"/>
            </a:endParaRPr>
          </a:p>
          <a:p>
            <a:pPr>
              <a:lnSpc>
                <a:spcPct val="150000"/>
              </a:lnSpc>
            </a:pPr>
            <a:r>
              <a:rPr lang="en-US" dirty="0">
                <a:solidFill>
                  <a:schemeClr val="bg1"/>
                </a:solidFill>
                <a:latin typeface="Segoe UI" panose="020B0502040204020203" pitchFamily="34" charset="0"/>
                <a:cs typeface="Segoe UI" panose="020B0502040204020203" pitchFamily="34" charset="0"/>
              </a:rPr>
              <a:t>• Implemented at database level  </a:t>
            </a:r>
          </a:p>
          <a:p>
            <a:pPr>
              <a:lnSpc>
                <a:spcPct val="150000"/>
              </a:lnSpc>
            </a:pPr>
            <a:r>
              <a:rPr lang="en-US" dirty="0">
                <a:solidFill>
                  <a:schemeClr val="bg1"/>
                </a:solidFill>
                <a:latin typeface="Segoe UI" panose="020B0502040204020203" pitchFamily="34" charset="0"/>
                <a:cs typeface="Segoe UI" panose="020B0502040204020203" pitchFamily="34" charset="0"/>
              </a:rPr>
              <a:t>• Prevents age &lt; 18  </a:t>
            </a:r>
          </a:p>
          <a:p>
            <a:pPr>
              <a:lnSpc>
                <a:spcPct val="150000"/>
              </a:lnSpc>
            </a:pPr>
            <a:r>
              <a:rPr lang="en-US" dirty="0">
                <a:solidFill>
                  <a:schemeClr val="bg1"/>
                </a:solidFill>
                <a:latin typeface="Segoe UI" panose="020B0502040204020203" pitchFamily="34" charset="0"/>
                <a:cs typeface="Segoe UI" panose="020B0502040204020203" pitchFamily="34" charset="0"/>
              </a:rPr>
              <a:t>• Ensures valid records only</a:t>
            </a:r>
            <a:endParaRPr lang="en-IN" dirty="0">
              <a:solidFill>
                <a:schemeClr val="bg1"/>
              </a:solidFill>
              <a:latin typeface="Segoe UI" panose="020B0502040204020203" pitchFamily="34" charset="0"/>
              <a:cs typeface="Segoe UI" panose="020B0502040204020203" pitchFamily="34" charset="0"/>
            </a:endParaRPr>
          </a:p>
        </p:txBody>
      </p:sp>
      <p:sp>
        <p:nvSpPr>
          <p:cNvPr id="23" name="TextBox 22">
            <a:extLst>
              <a:ext uri="{FF2B5EF4-FFF2-40B4-BE49-F238E27FC236}">
                <a16:creationId xmlns:a16="http://schemas.microsoft.com/office/drawing/2014/main" id="{53885721-CEB2-EF83-753A-B836CE9198CA}"/>
              </a:ext>
            </a:extLst>
          </p:cNvPr>
          <p:cNvSpPr txBox="1"/>
          <p:nvPr/>
        </p:nvSpPr>
        <p:spPr>
          <a:xfrm>
            <a:off x="5594704" y="2387042"/>
            <a:ext cx="2452016" cy="300082"/>
          </a:xfrm>
          <a:prstGeom prst="rect">
            <a:avLst/>
          </a:prstGeom>
          <a:noFill/>
          <a:ln w="9525">
            <a:solidFill>
              <a:srgbClr val="E6E6E6"/>
            </a:solidFill>
            <a:prstDash val="dashDot"/>
          </a:ln>
        </p:spPr>
        <p:txBody>
          <a:bodyPr wrap="square" rtlCol="0">
            <a:spAutoFit/>
          </a:bodyPr>
          <a:lstStyle/>
          <a:p>
            <a:r>
              <a:rPr lang="en-IN" sz="1350" b="1" dirty="0">
                <a:solidFill>
                  <a:schemeClr val="bg1">
                    <a:lumMod val="85000"/>
                  </a:schemeClr>
                </a:solidFill>
                <a:latin typeface="Segoe UI" panose="020B0502040204020203" pitchFamily="34" charset="0"/>
                <a:cs typeface="Segoe UI" panose="020B0502040204020203" pitchFamily="34" charset="0"/>
              </a:rPr>
              <a:t>Raw Input </a:t>
            </a:r>
            <a:r>
              <a:rPr lang="en-IN" sz="1350" b="1" dirty="0">
                <a:solidFill>
                  <a:srgbClr val="FFE600"/>
                </a:solidFill>
                <a:latin typeface="Segoe UI" panose="020B0502040204020203" pitchFamily="34" charset="0"/>
                <a:cs typeface="Segoe UI" panose="020B0502040204020203" pitchFamily="34" charset="0"/>
              </a:rPr>
              <a:t>→</a:t>
            </a:r>
            <a:r>
              <a:rPr lang="en-IN" sz="1350" b="1" dirty="0">
                <a:solidFill>
                  <a:schemeClr val="bg1">
                    <a:lumMod val="85000"/>
                  </a:schemeClr>
                </a:solidFill>
                <a:latin typeface="Segoe UI" panose="020B0502040204020203" pitchFamily="34" charset="0"/>
                <a:cs typeface="Segoe UI" panose="020B0502040204020203" pitchFamily="34" charset="0"/>
              </a:rPr>
              <a:t> Validated Data</a:t>
            </a:r>
          </a:p>
        </p:txBody>
      </p:sp>
      <p:sp>
        <p:nvSpPr>
          <p:cNvPr id="25" name="Rectangle 24">
            <a:extLst>
              <a:ext uri="{FF2B5EF4-FFF2-40B4-BE49-F238E27FC236}">
                <a16:creationId xmlns:a16="http://schemas.microsoft.com/office/drawing/2014/main" id="{DE2B9BF0-A7F5-A832-68A0-49D83C30A83B}"/>
              </a:ext>
            </a:extLst>
          </p:cNvPr>
          <p:cNvSpPr/>
          <p:nvPr/>
        </p:nvSpPr>
        <p:spPr>
          <a:xfrm>
            <a:off x="4158908" y="4663406"/>
            <a:ext cx="3874183" cy="1917977"/>
          </a:xfrm>
          <a:prstGeom prst="rect">
            <a:avLst/>
          </a:prstGeom>
          <a:solidFill>
            <a:srgbClr val="141414"/>
          </a:solidFill>
          <a:ln w="6350">
            <a:solidFill>
              <a:srgbClr val="FFE6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00" dirty="0">
                <a:latin typeface="Consolas" panose="020B0609020204030204" pitchFamily="49" charset="0"/>
                <a:cs typeface="Segoe UI" panose="020B0502040204020203" pitchFamily="34" charset="0"/>
              </a:rPr>
              <a:t>CREATE TRIGGER validate_age</a:t>
            </a:r>
          </a:p>
          <a:p>
            <a:r>
              <a:rPr lang="en-US" sz="1300" dirty="0">
                <a:latin typeface="Consolas" panose="020B0609020204030204" pitchFamily="49" charset="0"/>
                <a:cs typeface="Segoe UI" panose="020B0502040204020203" pitchFamily="34" charset="0"/>
              </a:rPr>
              <a:t>BEFORE INSERT ON customers</a:t>
            </a:r>
          </a:p>
          <a:p>
            <a:r>
              <a:rPr lang="en-US" sz="1300" dirty="0">
                <a:latin typeface="Consolas" panose="020B0609020204030204" pitchFamily="49" charset="0"/>
                <a:cs typeface="Segoe UI" panose="020B0502040204020203" pitchFamily="34" charset="0"/>
              </a:rPr>
              <a:t>WHEN NEW.customer_age &lt; 18</a:t>
            </a:r>
          </a:p>
          <a:p>
            <a:r>
              <a:rPr lang="en-US" sz="1300" dirty="0">
                <a:latin typeface="Consolas" panose="020B0609020204030204" pitchFamily="49" charset="0"/>
                <a:cs typeface="Segoe UI" panose="020B0502040204020203" pitchFamily="34" charset="0"/>
              </a:rPr>
              <a:t>BEGIN</a:t>
            </a:r>
          </a:p>
          <a:p>
            <a:r>
              <a:rPr lang="en-US" sz="1300" dirty="0">
                <a:latin typeface="Consolas" panose="020B0609020204030204" pitchFamily="49" charset="0"/>
                <a:cs typeface="Segoe UI" panose="020B0502040204020203" pitchFamily="34" charset="0"/>
              </a:rPr>
              <a:t>SELECT RAISE(ABORT, 'Age must be 18+');</a:t>
            </a:r>
          </a:p>
          <a:p>
            <a:r>
              <a:rPr lang="en-US" sz="1300" dirty="0">
                <a:latin typeface="Consolas" panose="020B0609020204030204" pitchFamily="49" charset="0"/>
                <a:cs typeface="Segoe UI" panose="020B0502040204020203" pitchFamily="34" charset="0"/>
              </a:rPr>
              <a:t>END;</a:t>
            </a:r>
            <a:endParaRPr lang="en-IN" sz="1300" dirty="0">
              <a:latin typeface="Consolas" panose="020B0609020204030204" pitchFamily="49" charset="0"/>
              <a:cs typeface="Segoe UI" panose="020B0502040204020203" pitchFamily="34" charset="0"/>
            </a:endParaRPr>
          </a:p>
        </p:txBody>
      </p:sp>
    </p:spTree>
    <p:extLst>
      <p:ext uri="{BB962C8B-B14F-4D97-AF65-F5344CB8AC3E}">
        <p14:creationId xmlns:p14="http://schemas.microsoft.com/office/powerpoint/2010/main" val="1867711078"/>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23BF5-DDDD-DD41-0F40-F67217FED0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FE01350-193F-E584-8AA3-1BA287916A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11705AB5-5EBE-34F1-D9F6-5EEE81A3E257}"/>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06</a:t>
            </a:r>
            <a:endParaRPr lang="en-IN" sz="9600" dirty="0">
              <a:solidFill>
                <a:srgbClr val="FFE600"/>
              </a:solidFill>
            </a:endParaRPr>
          </a:p>
        </p:txBody>
      </p:sp>
      <p:sp>
        <p:nvSpPr>
          <p:cNvPr id="6" name="Oval 5">
            <a:extLst>
              <a:ext uri="{FF2B5EF4-FFF2-40B4-BE49-F238E27FC236}">
                <a16:creationId xmlns:a16="http://schemas.microsoft.com/office/drawing/2014/main" id="{52AF16DE-0C50-477A-4E4F-F009ECA5139F}"/>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DB0E9E5-FB2C-86ED-39EF-C36BEF9CDBB5}"/>
              </a:ext>
            </a:extLst>
          </p:cNvPr>
          <p:cNvSpPr txBox="1"/>
          <p:nvPr/>
        </p:nvSpPr>
        <p:spPr>
          <a:xfrm>
            <a:off x="1463040" y="3315266"/>
            <a:ext cx="5512525" cy="1446550"/>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DASHBOARD</a:t>
            </a:r>
          </a:p>
          <a:p>
            <a:r>
              <a:rPr lang="en-IN" sz="4400" dirty="0">
                <a:solidFill>
                  <a:schemeClr val="bg1"/>
                </a:solidFill>
                <a:latin typeface="Segoe UI" panose="020B0502040204020203" pitchFamily="34" charset="0"/>
                <a:cs typeface="Segoe UI" panose="020B0502040204020203" pitchFamily="34" charset="0"/>
              </a:rPr>
              <a:t>ANALYSIS</a:t>
            </a:r>
          </a:p>
        </p:txBody>
      </p:sp>
      <p:sp>
        <p:nvSpPr>
          <p:cNvPr id="9" name="Rectangle 8">
            <a:extLst>
              <a:ext uri="{FF2B5EF4-FFF2-40B4-BE49-F238E27FC236}">
                <a16:creationId xmlns:a16="http://schemas.microsoft.com/office/drawing/2014/main" id="{42DBB058-C777-A0AD-D753-AE7A95D9C0E0}"/>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40A40D78-4A95-BE4A-3052-522AD0A1631B}"/>
              </a:ext>
            </a:extLst>
          </p:cNvPr>
          <p:cNvSpPr txBox="1"/>
          <p:nvPr/>
        </p:nvSpPr>
        <p:spPr>
          <a:xfrm>
            <a:off x="1463040" y="4984050"/>
            <a:ext cx="9353006" cy="584775"/>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Analyzing customer behavior, vehicle trends, and claim patterns through interactive dashboards.</a:t>
            </a:r>
          </a:p>
          <a:p>
            <a:r>
              <a:rPr lang="en-US" sz="1600" dirty="0">
                <a:solidFill>
                  <a:srgbClr val="CFCFCF"/>
                </a:solidFill>
                <a:latin typeface="Segoe UI" panose="020B0502040204020203" pitchFamily="34" charset="0"/>
                <a:cs typeface="Segoe UI" panose="020B0502040204020203" pitchFamily="34" charset="0"/>
              </a:rPr>
              <a:t>KPIs | Customer Behavior | Vehicle Trends | Claims Analysis</a:t>
            </a:r>
            <a:endParaRPr lang="en-IN" sz="1600" dirty="0">
              <a:solidFill>
                <a:srgbClr val="CFCFCF"/>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67884174"/>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218F-29E7-C4DE-2E09-9F67B70775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399001-1144-45C6-236D-32A4B2229B60}"/>
              </a:ext>
            </a:extLst>
          </p:cNvPr>
          <p:cNvSpPr txBox="1"/>
          <p:nvPr/>
        </p:nvSpPr>
        <p:spPr>
          <a:xfrm>
            <a:off x="117566" y="45719"/>
            <a:ext cx="7269072" cy="707886"/>
          </a:xfrm>
          <a:prstGeom prst="rect">
            <a:avLst/>
          </a:prstGeom>
          <a:noFill/>
        </p:spPr>
        <p:txBody>
          <a:bodyPr wrap="square" rtlCol="0">
            <a:spAutoFit/>
          </a:bodyPr>
          <a:lstStyle/>
          <a:p>
            <a:r>
              <a:rPr lang="en-IN" sz="4000" dirty="0">
                <a:solidFill>
                  <a:schemeClr val="bg1"/>
                </a:solidFill>
              </a:rPr>
              <a:t>DASHBOARD OVERVIEW</a:t>
            </a:r>
          </a:p>
        </p:txBody>
      </p:sp>
      <p:sp>
        <p:nvSpPr>
          <p:cNvPr id="5" name="Rectangle 4">
            <a:extLst>
              <a:ext uri="{FF2B5EF4-FFF2-40B4-BE49-F238E27FC236}">
                <a16:creationId xmlns:a16="http://schemas.microsoft.com/office/drawing/2014/main" id="{BDFFCA52-DFAA-B1F1-157D-BC8360514781}"/>
              </a:ext>
            </a:extLst>
          </p:cNvPr>
          <p:cNvSpPr/>
          <p:nvPr/>
        </p:nvSpPr>
        <p:spPr>
          <a:xfrm flipV="1">
            <a:off x="261257" y="730741"/>
            <a:ext cx="4939393"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780F475-FCDB-4DBE-CC0D-64752BBD53BC}"/>
              </a:ext>
            </a:extLst>
          </p:cNvPr>
          <p:cNvSpPr txBox="1"/>
          <p:nvPr/>
        </p:nvSpPr>
        <p:spPr>
          <a:xfrm>
            <a:off x="2895871" y="6270743"/>
            <a:ext cx="6413863" cy="338554"/>
          </a:xfrm>
          <a:prstGeom prst="rect">
            <a:avLst/>
          </a:prstGeom>
          <a:noFill/>
        </p:spPr>
        <p:txBody>
          <a:bodyPr wrap="square" rtlCol="0">
            <a:spAutoFit/>
          </a:bodyPr>
          <a:lstStyle/>
          <a:p>
            <a:pPr algn="ctr"/>
            <a:r>
              <a:rPr lang="en-US" sz="1600" dirty="0">
                <a:solidFill>
                  <a:srgbClr val="CFCFCF"/>
                </a:solidFill>
                <a:latin typeface="Segoe UI" panose="020B0502040204020203" pitchFamily="34" charset="0"/>
                <a:cs typeface="Segoe UI" panose="020B0502040204020203" pitchFamily="34" charset="0"/>
              </a:rPr>
              <a:t>KPIs   |   Fuel Trends   |   Age Distribution   |  Claims</a:t>
            </a:r>
            <a:endParaRPr lang="en-IN" sz="1600" dirty="0">
              <a:solidFill>
                <a:srgbClr val="CFCFCF"/>
              </a:solidFill>
              <a:latin typeface="Segoe UI" panose="020B0502040204020203" pitchFamily="34" charset="0"/>
              <a:cs typeface="Segoe UI" panose="020B0502040204020203" pitchFamily="34" charset="0"/>
            </a:endParaRPr>
          </a:p>
        </p:txBody>
      </p:sp>
      <p:sp>
        <p:nvSpPr>
          <p:cNvPr id="17" name="Flowchart: Connector 16">
            <a:extLst>
              <a:ext uri="{FF2B5EF4-FFF2-40B4-BE49-F238E27FC236}">
                <a16:creationId xmlns:a16="http://schemas.microsoft.com/office/drawing/2014/main" id="{C05390A1-A618-72EA-D55B-52FC015D3078}"/>
              </a:ext>
            </a:extLst>
          </p:cNvPr>
          <p:cNvSpPr/>
          <p:nvPr/>
        </p:nvSpPr>
        <p:spPr>
          <a:xfrm>
            <a:off x="3516972" y="6332522"/>
            <a:ext cx="235130" cy="214996"/>
          </a:xfrm>
          <a:prstGeom prst="flowChartConnector">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B3A1D3ED-0B21-111C-290C-2070EA2C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57" y="1277289"/>
            <a:ext cx="11683093" cy="4746545"/>
          </a:xfrm>
          <a:prstGeom prst="rect">
            <a:avLst/>
          </a:prstGeom>
        </p:spPr>
      </p:pic>
    </p:spTree>
    <p:extLst>
      <p:ext uri="{BB962C8B-B14F-4D97-AF65-F5344CB8AC3E}">
        <p14:creationId xmlns:p14="http://schemas.microsoft.com/office/powerpoint/2010/main" val="2198545532"/>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E9049-FE7F-2BE8-8EB9-89232E1A3A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E5F913C-4435-C2DD-191C-660C48C53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F70A67C-57D8-FD13-6DF5-B57B44248422}"/>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07</a:t>
            </a:r>
            <a:endParaRPr lang="en-IN" sz="9600" dirty="0">
              <a:solidFill>
                <a:srgbClr val="FFE600"/>
              </a:solidFill>
            </a:endParaRPr>
          </a:p>
        </p:txBody>
      </p:sp>
      <p:sp>
        <p:nvSpPr>
          <p:cNvPr id="6" name="Oval 5">
            <a:extLst>
              <a:ext uri="{FF2B5EF4-FFF2-40B4-BE49-F238E27FC236}">
                <a16:creationId xmlns:a16="http://schemas.microsoft.com/office/drawing/2014/main" id="{F54FC873-FAE2-E4A0-8566-1EC939A74F93}"/>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4DD9FEE1-1817-B207-7990-D350BCD4E48A}"/>
              </a:ext>
            </a:extLst>
          </p:cNvPr>
          <p:cNvSpPr txBox="1"/>
          <p:nvPr/>
        </p:nvSpPr>
        <p:spPr>
          <a:xfrm>
            <a:off x="1528147" y="3765878"/>
            <a:ext cx="5512525" cy="769441"/>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KEY INSIGHTS</a:t>
            </a:r>
          </a:p>
        </p:txBody>
      </p:sp>
      <p:sp>
        <p:nvSpPr>
          <p:cNvPr id="9" name="Rectangle 8">
            <a:extLst>
              <a:ext uri="{FF2B5EF4-FFF2-40B4-BE49-F238E27FC236}">
                <a16:creationId xmlns:a16="http://schemas.microsoft.com/office/drawing/2014/main" id="{AD59E229-67C9-78CE-4662-85C3771A09B6}"/>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00205515-6E2D-5DEA-548C-1720A4092576}"/>
              </a:ext>
            </a:extLst>
          </p:cNvPr>
          <p:cNvSpPr txBox="1"/>
          <p:nvPr/>
        </p:nvSpPr>
        <p:spPr>
          <a:xfrm>
            <a:off x="1463040" y="4984050"/>
            <a:ext cx="10058400" cy="584775"/>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Deriving meaningful insights from data to understand customer behavior, vehicle trends, and claim patterns. </a:t>
            </a:r>
          </a:p>
          <a:p>
            <a:r>
              <a:rPr lang="en-IN" sz="1600" dirty="0">
                <a:solidFill>
                  <a:srgbClr val="CFCFCF"/>
                </a:solidFill>
                <a:latin typeface="Segoe UI" panose="020B0502040204020203" pitchFamily="34" charset="0"/>
                <a:cs typeface="Segoe UI" panose="020B0502040204020203" pitchFamily="34" charset="0"/>
              </a:rPr>
              <a:t>Customer Insights | Fuel Trends | Vehicle Analysis | Claims Patterns</a:t>
            </a:r>
          </a:p>
        </p:txBody>
      </p:sp>
    </p:spTree>
    <p:extLst>
      <p:ext uri="{BB962C8B-B14F-4D97-AF65-F5344CB8AC3E}">
        <p14:creationId xmlns:p14="http://schemas.microsoft.com/office/powerpoint/2010/main" val="3060471510"/>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C555A-3FD9-B1EE-9A9B-230CC05CEAA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C70B248-8D55-3A37-7630-12A9EF9EB122}"/>
              </a:ext>
            </a:extLst>
          </p:cNvPr>
          <p:cNvSpPr txBox="1"/>
          <p:nvPr/>
        </p:nvSpPr>
        <p:spPr>
          <a:xfrm>
            <a:off x="130628" y="45719"/>
            <a:ext cx="7667897" cy="707886"/>
          </a:xfrm>
          <a:prstGeom prst="rect">
            <a:avLst/>
          </a:prstGeom>
          <a:noFill/>
        </p:spPr>
        <p:txBody>
          <a:bodyPr wrap="square" rtlCol="0">
            <a:spAutoFit/>
          </a:bodyPr>
          <a:lstStyle/>
          <a:p>
            <a:r>
              <a:rPr lang="en-IN" sz="4000" dirty="0">
                <a:solidFill>
                  <a:schemeClr val="bg1"/>
                </a:solidFill>
              </a:rPr>
              <a:t>KEY INSIGHTS</a:t>
            </a:r>
          </a:p>
        </p:txBody>
      </p:sp>
      <p:sp>
        <p:nvSpPr>
          <p:cNvPr id="8" name="Rectangle 7">
            <a:extLst>
              <a:ext uri="{FF2B5EF4-FFF2-40B4-BE49-F238E27FC236}">
                <a16:creationId xmlns:a16="http://schemas.microsoft.com/office/drawing/2014/main" id="{3F188287-D4AD-8D26-3BF1-72F4EE83B039}"/>
              </a:ext>
            </a:extLst>
          </p:cNvPr>
          <p:cNvSpPr/>
          <p:nvPr/>
        </p:nvSpPr>
        <p:spPr>
          <a:xfrm flipV="1">
            <a:off x="248195" y="730742"/>
            <a:ext cx="2919076"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E27D9C57-7239-C5E0-05E0-CF9609653491}"/>
              </a:ext>
            </a:extLst>
          </p:cNvPr>
          <p:cNvSpPr/>
          <p:nvPr/>
        </p:nvSpPr>
        <p:spPr>
          <a:xfrm>
            <a:off x="477077" y="1219200"/>
            <a:ext cx="5234609" cy="2292626"/>
          </a:xfrm>
          <a:prstGeom prst="rect">
            <a:avLst/>
          </a:prstGeom>
          <a:solidFill>
            <a:srgbClr val="141414"/>
          </a:solidFill>
          <a:ln>
            <a:noFill/>
          </a:ln>
          <a:effectLst>
            <a:glow rad="63500">
              <a:schemeClr val="accent3">
                <a:satMod val="175000"/>
                <a:alpha val="40000"/>
              </a:schemeClr>
            </a:glow>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FFE600"/>
                </a:solidFill>
              </a:rPr>
              <a:t>● </a:t>
            </a:r>
            <a:r>
              <a:rPr lang="en-IN" sz="2400" b="1" dirty="0">
                <a:solidFill>
                  <a:srgbClr val="FFE600"/>
                </a:solidFill>
              </a:rPr>
              <a:t>Customer Profile</a:t>
            </a:r>
          </a:p>
          <a:p>
            <a:endParaRPr lang="en-US" sz="2400" b="1" dirty="0">
              <a:solidFill>
                <a:srgbClr val="FFE600"/>
              </a:solidFill>
            </a:endParaRPr>
          </a:p>
          <a:p>
            <a:r>
              <a:rPr lang="en-US" b="1" dirty="0">
                <a:solidFill>
                  <a:srgbClr val="E6E6E6"/>
                </a:solidFill>
                <a:latin typeface="Segoe UI" panose="020B0502040204020203" pitchFamily="34" charset="0"/>
                <a:cs typeface="Segoe UI" panose="020B0502040204020203" pitchFamily="34" charset="0"/>
              </a:rPr>
              <a:t>Majority of customers fall within the mid-age group (35–50), indicating higher engagement in this segment.</a:t>
            </a:r>
            <a:endParaRPr lang="en-IN" b="1" dirty="0">
              <a:solidFill>
                <a:srgbClr val="E6E6E6"/>
              </a:solidFill>
              <a:latin typeface="Segoe UI" panose="020B0502040204020203" pitchFamily="34" charset="0"/>
              <a:cs typeface="Segoe UI" panose="020B0502040204020203" pitchFamily="34" charset="0"/>
            </a:endParaRPr>
          </a:p>
        </p:txBody>
      </p:sp>
      <p:sp>
        <p:nvSpPr>
          <p:cNvPr id="24" name="Rectangle 23">
            <a:extLst>
              <a:ext uri="{FF2B5EF4-FFF2-40B4-BE49-F238E27FC236}">
                <a16:creationId xmlns:a16="http://schemas.microsoft.com/office/drawing/2014/main" id="{20AA387C-0EB3-E983-D3B9-3C87D0B0E477}"/>
              </a:ext>
            </a:extLst>
          </p:cNvPr>
          <p:cNvSpPr/>
          <p:nvPr/>
        </p:nvSpPr>
        <p:spPr>
          <a:xfrm>
            <a:off x="6480312" y="1121120"/>
            <a:ext cx="5234609" cy="2292626"/>
          </a:xfrm>
          <a:prstGeom prst="rect">
            <a:avLst/>
          </a:prstGeom>
          <a:solidFill>
            <a:srgbClr val="141414"/>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FFE600"/>
              </a:solidFill>
            </a:endParaRPr>
          </a:p>
          <a:p>
            <a:r>
              <a:rPr lang="en-IN" sz="2400" dirty="0">
                <a:solidFill>
                  <a:srgbClr val="FFE600"/>
                </a:solidFill>
              </a:rPr>
              <a:t>● </a:t>
            </a:r>
            <a:r>
              <a:rPr lang="en-US" sz="2400" b="1" dirty="0">
                <a:solidFill>
                  <a:srgbClr val="FFE600"/>
                </a:solidFill>
              </a:rPr>
              <a:t>Fuel Distribution</a:t>
            </a:r>
          </a:p>
          <a:p>
            <a:endParaRPr lang="en-US" dirty="0"/>
          </a:p>
          <a:p>
            <a:r>
              <a:rPr lang="en-US" b="1" dirty="0">
                <a:solidFill>
                  <a:srgbClr val="E6E6E6"/>
                </a:solidFill>
                <a:latin typeface="Segoe UI" panose="020B0502040204020203" pitchFamily="34" charset="0"/>
                <a:cs typeface="Segoe UI" panose="020B0502040204020203" pitchFamily="34" charset="0"/>
              </a:rPr>
              <a:t>Petrol and CNG dominate the market (~35% each), while Diesel usage is slightly lower (~30%).</a:t>
            </a:r>
            <a:endParaRPr lang="en-IN" b="1" dirty="0">
              <a:solidFill>
                <a:srgbClr val="E6E6E6"/>
              </a:solidFill>
              <a:latin typeface="Segoe UI" panose="020B0502040204020203" pitchFamily="34" charset="0"/>
              <a:cs typeface="Segoe UI" panose="020B0502040204020203" pitchFamily="34" charset="0"/>
            </a:endParaRPr>
          </a:p>
          <a:p>
            <a:endParaRPr lang="en-IN" b="1" dirty="0">
              <a:solidFill>
                <a:srgbClr val="E6E6E6"/>
              </a:solidFill>
              <a:latin typeface="Segoe UI" panose="020B0502040204020203" pitchFamily="34" charset="0"/>
              <a:cs typeface="Segoe UI" panose="020B0502040204020203" pitchFamily="34" charset="0"/>
            </a:endParaRPr>
          </a:p>
        </p:txBody>
      </p:sp>
      <p:sp>
        <p:nvSpPr>
          <p:cNvPr id="26" name="Rectangle 25">
            <a:extLst>
              <a:ext uri="{FF2B5EF4-FFF2-40B4-BE49-F238E27FC236}">
                <a16:creationId xmlns:a16="http://schemas.microsoft.com/office/drawing/2014/main" id="{86B923E3-1CDD-4A89-BB53-FA3602A0263C}"/>
              </a:ext>
            </a:extLst>
          </p:cNvPr>
          <p:cNvSpPr/>
          <p:nvPr/>
        </p:nvSpPr>
        <p:spPr>
          <a:xfrm>
            <a:off x="477077" y="3750365"/>
            <a:ext cx="5234609" cy="2292626"/>
          </a:xfrm>
          <a:prstGeom prst="rect">
            <a:avLst/>
          </a:prstGeom>
          <a:solidFill>
            <a:srgbClr val="141414"/>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FFE600"/>
                </a:solidFill>
              </a:rPr>
              <a:t>● </a:t>
            </a:r>
            <a:r>
              <a:rPr lang="en-US" sz="2400" b="1" dirty="0">
                <a:solidFill>
                  <a:srgbClr val="FFE600"/>
                </a:solidFill>
              </a:rPr>
              <a:t>Vehicle Trends</a:t>
            </a:r>
          </a:p>
          <a:p>
            <a:endParaRPr lang="en-US" dirty="0"/>
          </a:p>
          <a:p>
            <a:r>
              <a:rPr lang="en-US" b="1" dirty="0">
                <a:solidFill>
                  <a:srgbClr val="E6E6E6"/>
                </a:solidFill>
                <a:latin typeface="Segoe UI" panose="020B0502040204020203" pitchFamily="34" charset="0"/>
                <a:cs typeface="Segoe UI" panose="020B0502040204020203" pitchFamily="34" charset="0"/>
              </a:rPr>
              <a:t>Most vehicles are relatively new, resulting in a lower average vehicle age across the dataset.</a:t>
            </a:r>
            <a:endParaRPr lang="en-IN" b="1" dirty="0">
              <a:solidFill>
                <a:srgbClr val="E6E6E6"/>
              </a:solidFill>
              <a:latin typeface="Segoe UI" panose="020B0502040204020203" pitchFamily="34" charset="0"/>
              <a:cs typeface="Segoe UI" panose="020B0502040204020203" pitchFamily="34" charset="0"/>
            </a:endParaRPr>
          </a:p>
        </p:txBody>
      </p:sp>
      <p:sp>
        <p:nvSpPr>
          <p:cNvPr id="28" name="Rectangle 27">
            <a:extLst>
              <a:ext uri="{FF2B5EF4-FFF2-40B4-BE49-F238E27FC236}">
                <a16:creationId xmlns:a16="http://schemas.microsoft.com/office/drawing/2014/main" id="{164EA8CD-E781-FD48-A081-60F491086111}"/>
              </a:ext>
            </a:extLst>
          </p:cNvPr>
          <p:cNvSpPr/>
          <p:nvPr/>
        </p:nvSpPr>
        <p:spPr>
          <a:xfrm>
            <a:off x="6480311" y="3781261"/>
            <a:ext cx="5234609" cy="2292626"/>
          </a:xfrm>
          <a:prstGeom prst="rect">
            <a:avLst/>
          </a:prstGeom>
          <a:solidFill>
            <a:srgbClr val="141414"/>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FFE600"/>
                </a:solidFill>
              </a:rPr>
              <a:t>● </a:t>
            </a:r>
            <a:r>
              <a:rPr lang="en-US" sz="2400" b="1" dirty="0">
                <a:solidFill>
                  <a:srgbClr val="FFE600"/>
                </a:solidFill>
              </a:rPr>
              <a:t>Claims Insight</a:t>
            </a:r>
          </a:p>
          <a:p>
            <a:endParaRPr lang="en-US" b="1" dirty="0">
              <a:solidFill>
                <a:srgbClr val="E6E6E6"/>
              </a:solidFill>
              <a:latin typeface="Segoe UI" panose="020B0502040204020203" pitchFamily="34" charset="0"/>
              <a:cs typeface="Segoe UI" panose="020B0502040204020203" pitchFamily="34" charset="0"/>
            </a:endParaRPr>
          </a:p>
          <a:p>
            <a:r>
              <a:rPr lang="en-US" b="1" dirty="0">
                <a:solidFill>
                  <a:srgbClr val="E6E6E6"/>
                </a:solidFill>
                <a:latin typeface="Segoe UI" panose="020B0502040204020203" pitchFamily="34" charset="0"/>
                <a:cs typeface="Segoe UI" panose="020B0502040204020203" pitchFamily="34" charset="0"/>
              </a:rPr>
              <a:t>Very low claim rate (~6%) observed, indicating a stable and low-risk customer base.</a:t>
            </a:r>
            <a:endParaRPr lang="en-IN" b="1" dirty="0">
              <a:solidFill>
                <a:srgbClr val="E6E6E6"/>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36055404"/>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E8C17-0581-E91C-3AEF-3D71A74678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F1BA83-4393-41A1-79C3-F145C0060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848BF24C-3B80-E3A9-DAC0-2096B9900B7B}"/>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08</a:t>
            </a:r>
            <a:endParaRPr lang="en-IN" sz="9600" dirty="0">
              <a:solidFill>
                <a:srgbClr val="FFE600"/>
              </a:solidFill>
            </a:endParaRPr>
          </a:p>
        </p:txBody>
      </p:sp>
      <p:sp>
        <p:nvSpPr>
          <p:cNvPr id="6" name="Oval 5">
            <a:extLst>
              <a:ext uri="{FF2B5EF4-FFF2-40B4-BE49-F238E27FC236}">
                <a16:creationId xmlns:a16="http://schemas.microsoft.com/office/drawing/2014/main" id="{2D39AE8C-F104-4CDA-301F-6BF10955A91E}"/>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B564CAA-2AF0-B3B9-94E8-E05BF07A5F20}"/>
              </a:ext>
            </a:extLst>
          </p:cNvPr>
          <p:cNvSpPr txBox="1"/>
          <p:nvPr/>
        </p:nvSpPr>
        <p:spPr>
          <a:xfrm>
            <a:off x="1463040" y="3315266"/>
            <a:ext cx="5512525" cy="1446550"/>
          </a:xfrm>
          <a:prstGeom prst="rect">
            <a:avLst/>
          </a:prstGeom>
          <a:noFill/>
        </p:spPr>
        <p:txBody>
          <a:bodyPr wrap="square" rtlCol="0">
            <a:spAutoFit/>
          </a:bodyPr>
          <a:lstStyle/>
          <a:p>
            <a:r>
              <a:rPr lang="en-IN" sz="4400" dirty="0">
                <a:solidFill>
                  <a:schemeClr val="bg1"/>
                </a:solidFill>
                <a:latin typeface="Segoe UI" panose="020B0502040204020203" pitchFamily="34" charset="0"/>
                <a:cs typeface="Segoe UI" panose="020B0502040204020203" pitchFamily="34" charset="0"/>
              </a:rPr>
              <a:t>DATA </a:t>
            </a:r>
          </a:p>
          <a:p>
            <a:r>
              <a:rPr lang="en-IN" sz="4400" dirty="0">
                <a:solidFill>
                  <a:schemeClr val="bg1"/>
                </a:solidFill>
                <a:latin typeface="Segoe UI" panose="020B0502040204020203" pitchFamily="34" charset="0"/>
                <a:cs typeface="Segoe UI" panose="020B0502040204020203" pitchFamily="34" charset="0"/>
              </a:rPr>
              <a:t>ANALYSIS </a:t>
            </a:r>
          </a:p>
        </p:txBody>
      </p:sp>
      <p:sp>
        <p:nvSpPr>
          <p:cNvPr id="9" name="Rectangle 8">
            <a:extLst>
              <a:ext uri="{FF2B5EF4-FFF2-40B4-BE49-F238E27FC236}">
                <a16:creationId xmlns:a16="http://schemas.microsoft.com/office/drawing/2014/main" id="{B91AAA33-AA32-324B-1FC5-79B150656743}"/>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80DB74E-D9DA-FFF4-E03A-20DE5E6E94A6}"/>
              </a:ext>
            </a:extLst>
          </p:cNvPr>
          <p:cNvSpPr txBox="1"/>
          <p:nvPr/>
        </p:nvSpPr>
        <p:spPr>
          <a:xfrm>
            <a:off x="1463040" y="4984050"/>
            <a:ext cx="9353006" cy="830997"/>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Transforming data into meaningful patterns to understand customer behavior, vehicle trends, and risk insights. </a:t>
            </a:r>
          </a:p>
          <a:p>
            <a:r>
              <a:rPr lang="en-IN" sz="1600" dirty="0">
                <a:solidFill>
                  <a:srgbClr val="CFCFCF"/>
                </a:solidFill>
                <a:latin typeface="Segoe UI" panose="020B0502040204020203" pitchFamily="34" charset="0"/>
                <a:cs typeface="Segoe UI" panose="020B0502040204020203" pitchFamily="34" charset="0"/>
              </a:rPr>
              <a:t>Customer Behavior | Fuel Trends | Vehicle Patterns | Risk Insights</a:t>
            </a:r>
          </a:p>
        </p:txBody>
      </p:sp>
    </p:spTree>
    <p:extLst>
      <p:ext uri="{BB962C8B-B14F-4D97-AF65-F5344CB8AC3E}">
        <p14:creationId xmlns:p14="http://schemas.microsoft.com/office/powerpoint/2010/main" val="837261256"/>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E5CF-E980-B54B-B466-C9775C8EE22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84BC56F-8DC1-3812-08CE-C0707E3B8E0A}"/>
              </a:ext>
            </a:extLst>
          </p:cNvPr>
          <p:cNvSpPr txBox="1"/>
          <p:nvPr/>
        </p:nvSpPr>
        <p:spPr>
          <a:xfrm>
            <a:off x="130628" y="45719"/>
            <a:ext cx="7667897" cy="707886"/>
          </a:xfrm>
          <a:prstGeom prst="rect">
            <a:avLst/>
          </a:prstGeom>
          <a:noFill/>
        </p:spPr>
        <p:txBody>
          <a:bodyPr wrap="square" rtlCol="0">
            <a:spAutoFit/>
          </a:bodyPr>
          <a:lstStyle/>
          <a:p>
            <a:r>
              <a:rPr lang="en-IN" sz="4000" dirty="0">
                <a:solidFill>
                  <a:schemeClr val="bg1"/>
                </a:solidFill>
              </a:rPr>
              <a:t>DATA ANALYSIS SUMMARY</a:t>
            </a:r>
          </a:p>
        </p:txBody>
      </p:sp>
      <p:sp>
        <p:nvSpPr>
          <p:cNvPr id="8" name="Rectangle 7">
            <a:extLst>
              <a:ext uri="{FF2B5EF4-FFF2-40B4-BE49-F238E27FC236}">
                <a16:creationId xmlns:a16="http://schemas.microsoft.com/office/drawing/2014/main" id="{8461F3E0-1109-218A-2C9C-63AB0C54FE93}"/>
              </a:ext>
            </a:extLst>
          </p:cNvPr>
          <p:cNvSpPr/>
          <p:nvPr/>
        </p:nvSpPr>
        <p:spPr>
          <a:xfrm flipV="1">
            <a:off x="248194" y="730741"/>
            <a:ext cx="5423735"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A0BD0BCE-3145-1012-FF3A-231003080A1A}"/>
              </a:ext>
            </a:extLst>
          </p:cNvPr>
          <p:cNvSpPr/>
          <p:nvPr/>
        </p:nvSpPr>
        <p:spPr>
          <a:xfrm>
            <a:off x="130628" y="1250625"/>
            <a:ext cx="2652329" cy="1386846"/>
          </a:xfrm>
          <a:prstGeom prst="rect">
            <a:avLst/>
          </a:prstGeom>
          <a:solidFill>
            <a:srgbClr val="141414"/>
          </a:solidFill>
          <a:ln>
            <a:noFill/>
          </a:ln>
          <a:effectLst>
            <a:glow rad="63500">
              <a:schemeClr val="accent3">
                <a:satMod val="175000"/>
                <a:alpha val="40000"/>
              </a:schemeClr>
            </a:glow>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E600"/>
                </a:solidFill>
                <a:latin typeface="Segoe UI" panose="020B0502040204020203" pitchFamily="34" charset="0"/>
                <a:cs typeface="Segoe UI" panose="020B0502040204020203" pitchFamily="34" charset="0"/>
              </a:rPr>
              <a:t>Customer Base </a:t>
            </a:r>
          </a:p>
          <a:p>
            <a:endParaRPr lang="en-US" b="1" dirty="0">
              <a:solidFill>
                <a:srgbClr val="E6E6E6"/>
              </a:solidFill>
              <a:latin typeface="Segoe UI" panose="020B0502040204020203" pitchFamily="34" charset="0"/>
              <a:cs typeface="Segoe UI" panose="020B0502040204020203" pitchFamily="34" charset="0"/>
            </a:endParaRPr>
          </a:p>
          <a:p>
            <a:r>
              <a:rPr lang="en-US" sz="1400" b="1" dirty="0">
                <a:solidFill>
                  <a:srgbClr val="E6E6E6"/>
                </a:solidFill>
                <a:latin typeface="Segoe UI" panose="020B0502040204020203" pitchFamily="34" charset="0"/>
                <a:cs typeface="Segoe UI" panose="020B0502040204020203" pitchFamily="34" charset="0"/>
              </a:rPr>
              <a:t>Strong mid-age customer presence driving engagement</a:t>
            </a:r>
            <a:endParaRPr lang="en-IN" sz="1400" b="1" dirty="0">
              <a:solidFill>
                <a:srgbClr val="E6E6E6"/>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4E339C08-85CB-4CF2-FE5A-7AF01ED94CE0}"/>
              </a:ext>
            </a:extLst>
          </p:cNvPr>
          <p:cNvSpPr/>
          <p:nvPr/>
        </p:nvSpPr>
        <p:spPr>
          <a:xfrm>
            <a:off x="3048852" y="1282050"/>
            <a:ext cx="2811355" cy="1386846"/>
          </a:xfrm>
          <a:prstGeom prst="rect">
            <a:avLst/>
          </a:prstGeom>
          <a:solidFill>
            <a:srgbClr val="141414"/>
          </a:solidFill>
          <a:ln>
            <a:noFill/>
          </a:ln>
          <a:effectLst>
            <a:glow rad="63500">
              <a:schemeClr val="accent3">
                <a:satMod val="175000"/>
                <a:alpha val="40000"/>
              </a:schemeClr>
            </a:glow>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rgbClr val="FFE600"/>
                </a:solidFill>
                <a:latin typeface="Segoe UI" panose="020B0502040204020203" pitchFamily="34" charset="0"/>
                <a:cs typeface="Segoe UI" panose="020B0502040204020203" pitchFamily="34" charset="0"/>
              </a:rPr>
              <a:t>Fuel Usage</a:t>
            </a:r>
          </a:p>
          <a:p>
            <a:endParaRPr lang="en-IN" b="1" dirty="0">
              <a:solidFill>
                <a:srgbClr val="E6E6E6"/>
              </a:solidFill>
              <a:latin typeface="Segoe UI" panose="020B0502040204020203" pitchFamily="34" charset="0"/>
              <a:cs typeface="Segoe UI" panose="020B0502040204020203" pitchFamily="34" charset="0"/>
            </a:endParaRPr>
          </a:p>
          <a:p>
            <a:r>
              <a:rPr lang="en-IN" sz="1400" b="1" dirty="0">
                <a:solidFill>
                  <a:srgbClr val="E6E6E6"/>
                </a:solidFill>
                <a:latin typeface="Segoe UI" panose="020B0502040204020203" pitchFamily="34" charset="0"/>
                <a:cs typeface="Segoe UI" panose="020B0502040204020203" pitchFamily="34" charset="0"/>
              </a:rPr>
              <a:t>Petrol &amp; CNG dominate, indicating modern usage trends</a:t>
            </a:r>
          </a:p>
        </p:txBody>
      </p:sp>
      <p:sp>
        <p:nvSpPr>
          <p:cNvPr id="4" name="Rectangle 3">
            <a:extLst>
              <a:ext uri="{FF2B5EF4-FFF2-40B4-BE49-F238E27FC236}">
                <a16:creationId xmlns:a16="http://schemas.microsoft.com/office/drawing/2014/main" id="{4B07DC06-095F-BC83-923A-E2ED800DF3B6}"/>
              </a:ext>
            </a:extLst>
          </p:cNvPr>
          <p:cNvSpPr/>
          <p:nvPr/>
        </p:nvSpPr>
        <p:spPr>
          <a:xfrm>
            <a:off x="6126102" y="1282050"/>
            <a:ext cx="2811355" cy="1386846"/>
          </a:xfrm>
          <a:prstGeom prst="rect">
            <a:avLst/>
          </a:prstGeom>
          <a:solidFill>
            <a:srgbClr val="141414"/>
          </a:solidFill>
          <a:ln>
            <a:noFill/>
          </a:ln>
          <a:effectLst>
            <a:glow rad="63500">
              <a:schemeClr val="accent3">
                <a:satMod val="175000"/>
                <a:alpha val="40000"/>
              </a:schemeClr>
            </a:glow>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E600"/>
                </a:solidFill>
                <a:latin typeface="Segoe UI" panose="020B0502040204020203" pitchFamily="34" charset="0"/>
                <a:cs typeface="Segoe UI" panose="020B0502040204020203" pitchFamily="34" charset="0"/>
              </a:rPr>
              <a:t>Vehicle Pattern</a:t>
            </a:r>
          </a:p>
          <a:p>
            <a:endParaRPr lang="en-US" b="1" dirty="0">
              <a:solidFill>
                <a:srgbClr val="E6E6E6"/>
              </a:solidFill>
              <a:latin typeface="Segoe UI" panose="020B0502040204020203" pitchFamily="34" charset="0"/>
              <a:cs typeface="Segoe UI" panose="020B0502040204020203" pitchFamily="34" charset="0"/>
            </a:endParaRPr>
          </a:p>
          <a:p>
            <a:r>
              <a:rPr lang="en-US" sz="1400" b="1" dirty="0">
                <a:solidFill>
                  <a:srgbClr val="E6E6E6"/>
                </a:solidFill>
                <a:latin typeface="Segoe UI" panose="020B0502040204020203" pitchFamily="34" charset="0"/>
                <a:cs typeface="Segoe UI" panose="020B0502040204020203" pitchFamily="34" charset="0"/>
              </a:rPr>
              <a:t>Newer vehicles observed across majority of customers</a:t>
            </a:r>
            <a:endParaRPr lang="en-IN" sz="1400" b="1" dirty="0">
              <a:solidFill>
                <a:srgbClr val="E6E6E6"/>
              </a:solidFill>
              <a:latin typeface="Segoe UI" panose="020B0502040204020203" pitchFamily="34" charset="0"/>
              <a:cs typeface="Segoe UI" panose="020B0502040204020203" pitchFamily="34" charset="0"/>
            </a:endParaRPr>
          </a:p>
        </p:txBody>
      </p:sp>
      <p:sp>
        <p:nvSpPr>
          <p:cNvPr id="5" name="Rectangle 4">
            <a:extLst>
              <a:ext uri="{FF2B5EF4-FFF2-40B4-BE49-F238E27FC236}">
                <a16:creationId xmlns:a16="http://schemas.microsoft.com/office/drawing/2014/main" id="{17D1A6F4-7407-7B88-5D04-07E51A34E575}"/>
              </a:ext>
            </a:extLst>
          </p:cNvPr>
          <p:cNvSpPr/>
          <p:nvPr/>
        </p:nvSpPr>
        <p:spPr>
          <a:xfrm>
            <a:off x="9203352" y="1282050"/>
            <a:ext cx="2811355" cy="1386846"/>
          </a:xfrm>
          <a:prstGeom prst="rect">
            <a:avLst/>
          </a:prstGeom>
          <a:solidFill>
            <a:srgbClr val="141414"/>
          </a:solidFill>
          <a:ln>
            <a:noFill/>
          </a:ln>
          <a:effectLst>
            <a:glow rad="63500">
              <a:schemeClr val="accent3">
                <a:satMod val="175000"/>
                <a:alpha val="40000"/>
              </a:schemeClr>
            </a:glow>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E600"/>
                </a:solidFill>
                <a:latin typeface="Segoe UI" panose="020B0502040204020203" pitchFamily="34" charset="0"/>
                <a:cs typeface="Segoe UI" panose="020B0502040204020203" pitchFamily="34" charset="0"/>
              </a:rPr>
              <a:t>Risk Level</a:t>
            </a:r>
          </a:p>
          <a:p>
            <a:endParaRPr lang="en-US" b="1" dirty="0">
              <a:solidFill>
                <a:srgbClr val="E6E6E6"/>
              </a:solidFill>
              <a:latin typeface="Segoe UI" panose="020B0502040204020203" pitchFamily="34" charset="0"/>
              <a:cs typeface="Segoe UI" panose="020B0502040204020203" pitchFamily="34" charset="0"/>
            </a:endParaRPr>
          </a:p>
          <a:p>
            <a:r>
              <a:rPr lang="en-US" sz="1400" b="1" dirty="0">
                <a:solidFill>
                  <a:srgbClr val="E6E6E6"/>
                </a:solidFill>
                <a:latin typeface="Segoe UI" panose="020B0502040204020203" pitchFamily="34" charset="0"/>
                <a:cs typeface="Segoe UI" panose="020B0502040204020203" pitchFamily="34" charset="0"/>
              </a:rPr>
              <a:t>Low claim rate reflects a stable and low-risk portfolio</a:t>
            </a:r>
            <a:endParaRPr lang="en-IN" sz="1400" b="1" dirty="0">
              <a:solidFill>
                <a:srgbClr val="E6E6E6"/>
              </a:solidFill>
              <a:latin typeface="Segoe UI" panose="020B0502040204020203" pitchFamily="34" charset="0"/>
              <a:cs typeface="Segoe UI" panose="020B0502040204020203" pitchFamily="34" charset="0"/>
            </a:endParaRPr>
          </a:p>
        </p:txBody>
      </p:sp>
      <p:sp>
        <p:nvSpPr>
          <p:cNvPr id="6" name="TextBox 5">
            <a:extLst>
              <a:ext uri="{FF2B5EF4-FFF2-40B4-BE49-F238E27FC236}">
                <a16:creationId xmlns:a16="http://schemas.microsoft.com/office/drawing/2014/main" id="{0DEA527E-2958-D6F1-E0DD-81EFBE3471B7}"/>
              </a:ext>
            </a:extLst>
          </p:cNvPr>
          <p:cNvSpPr txBox="1"/>
          <p:nvPr/>
        </p:nvSpPr>
        <p:spPr>
          <a:xfrm>
            <a:off x="2744052" y="1861222"/>
            <a:ext cx="304800" cy="369332"/>
          </a:xfrm>
          <a:prstGeom prst="rect">
            <a:avLst/>
          </a:prstGeom>
          <a:noFill/>
        </p:spPr>
        <p:txBody>
          <a:bodyPr wrap="square" rtlCol="0">
            <a:spAutoFit/>
          </a:bodyPr>
          <a:lstStyle/>
          <a:p>
            <a:r>
              <a:rPr lang="en-IN" dirty="0">
                <a:solidFill>
                  <a:schemeClr val="bg1"/>
                </a:solidFill>
              </a:rPr>
              <a:t>→</a:t>
            </a:r>
          </a:p>
        </p:txBody>
      </p:sp>
      <p:sp>
        <p:nvSpPr>
          <p:cNvPr id="9" name="TextBox 8">
            <a:extLst>
              <a:ext uri="{FF2B5EF4-FFF2-40B4-BE49-F238E27FC236}">
                <a16:creationId xmlns:a16="http://schemas.microsoft.com/office/drawing/2014/main" id="{9984CDE3-ED3C-C455-2E4F-6C787DADB0EC}"/>
              </a:ext>
            </a:extLst>
          </p:cNvPr>
          <p:cNvSpPr txBox="1"/>
          <p:nvPr/>
        </p:nvSpPr>
        <p:spPr>
          <a:xfrm>
            <a:off x="5808050" y="1861222"/>
            <a:ext cx="304800" cy="369332"/>
          </a:xfrm>
          <a:prstGeom prst="rect">
            <a:avLst/>
          </a:prstGeom>
          <a:noFill/>
        </p:spPr>
        <p:txBody>
          <a:bodyPr wrap="square" rtlCol="0">
            <a:spAutoFit/>
          </a:bodyPr>
          <a:lstStyle/>
          <a:p>
            <a:r>
              <a:rPr lang="en-IN" dirty="0">
                <a:solidFill>
                  <a:schemeClr val="bg1"/>
                </a:solidFill>
              </a:rPr>
              <a:t>→</a:t>
            </a:r>
          </a:p>
        </p:txBody>
      </p:sp>
      <p:sp>
        <p:nvSpPr>
          <p:cNvPr id="11" name="TextBox 10">
            <a:extLst>
              <a:ext uri="{FF2B5EF4-FFF2-40B4-BE49-F238E27FC236}">
                <a16:creationId xmlns:a16="http://schemas.microsoft.com/office/drawing/2014/main" id="{06DDB933-A9B4-D5F6-CE2D-82D158A20174}"/>
              </a:ext>
            </a:extLst>
          </p:cNvPr>
          <p:cNvSpPr txBox="1"/>
          <p:nvPr/>
        </p:nvSpPr>
        <p:spPr>
          <a:xfrm>
            <a:off x="8872048" y="1861222"/>
            <a:ext cx="304800" cy="369332"/>
          </a:xfrm>
          <a:prstGeom prst="rect">
            <a:avLst/>
          </a:prstGeom>
          <a:noFill/>
        </p:spPr>
        <p:txBody>
          <a:bodyPr wrap="square" rtlCol="0">
            <a:spAutoFit/>
          </a:bodyPr>
          <a:lstStyle/>
          <a:p>
            <a:r>
              <a:rPr lang="en-IN" dirty="0">
                <a:solidFill>
                  <a:schemeClr val="bg1"/>
                </a:solidFill>
              </a:rPr>
              <a:t>→</a:t>
            </a:r>
          </a:p>
        </p:txBody>
      </p:sp>
      <p:sp>
        <p:nvSpPr>
          <p:cNvPr id="13" name="TextBox 12">
            <a:extLst>
              <a:ext uri="{FF2B5EF4-FFF2-40B4-BE49-F238E27FC236}">
                <a16:creationId xmlns:a16="http://schemas.microsoft.com/office/drawing/2014/main" id="{2C27D9CB-F999-051C-BEA9-B2B74B88A0FB}"/>
              </a:ext>
            </a:extLst>
          </p:cNvPr>
          <p:cNvSpPr txBox="1"/>
          <p:nvPr/>
        </p:nvSpPr>
        <p:spPr>
          <a:xfrm>
            <a:off x="1488974" y="3279493"/>
            <a:ext cx="9356035" cy="1295868"/>
          </a:xfrm>
          <a:prstGeom prst="rect">
            <a:avLst/>
          </a:prstGeom>
          <a:noFill/>
        </p:spPr>
        <p:txBody>
          <a:bodyPr wrap="square" rtlCol="0">
            <a:spAutoFit/>
          </a:bodyPr>
          <a:lstStyle/>
          <a:p>
            <a:pPr>
              <a:lnSpc>
                <a:spcPct val="150000"/>
              </a:lnSpc>
            </a:pPr>
            <a:r>
              <a:rPr lang="en-US" b="1" dirty="0">
                <a:solidFill>
                  <a:srgbClr val="E6E6E6"/>
                </a:solidFill>
                <a:latin typeface="Segoe UI" panose="020B0502040204020203" pitchFamily="34" charset="0"/>
                <a:cs typeface="Segoe UI" panose="020B0502040204020203" pitchFamily="34" charset="0"/>
              </a:rPr>
              <a:t>The analysis reveals a well-balanced customer base with modern vehicle adoption and a low-risk claims profile, enabling strong data-driven decision making.</a:t>
            </a:r>
            <a:endParaRPr lang="en-IN" b="1" dirty="0">
              <a:solidFill>
                <a:srgbClr val="E6E6E6"/>
              </a:solidFill>
              <a:latin typeface="Segoe UI" panose="020B0502040204020203" pitchFamily="34" charset="0"/>
              <a:cs typeface="Segoe UI" panose="020B0502040204020203" pitchFamily="34" charset="0"/>
            </a:endParaRPr>
          </a:p>
          <a:p>
            <a:pPr>
              <a:lnSpc>
                <a:spcPct val="150000"/>
              </a:lnSpc>
            </a:pPr>
            <a:endParaRPr lang="en-IN" dirty="0"/>
          </a:p>
        </p:txBody>
      </p:sp>
      <p:sp>
        <p:nvSpPr>
          <p:cNvPr id="14" name="Rectangle 13">
            <a:extLst>
              <a:ext uri="{FF2B5EF4-FFF2-40B4-BE49-F238E27FC236}">
                <a16:creationId xmlns:a16="http://schemas.microsoft.com/office/drawing/2014/main" id="{BD6061FD-D765-2025-6E32-92AE9008C213}"/>
              </a:ext>
            </a:extLst>
          </p:cNvPr>
          <p:cNvSpPr/>
          <p:nvPr/>
        </p:nvSpPr>
        <p:spPr>
          <a:xfrm flipV="1">
            <a:off x="1391478" y="3065917"/>
            <a:ext cx="9263270" cy="45719"/>
          </a:xfrm>
          <a:prstGeom prst="rect">
            <a:avLst/>
          </a:prstGeom>
          <a:solidFill>
            <a:srgbClr val="FFE6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473BF3A-1BB2-7A66-A392-BEC128626911}"/>
              </a:ext>
            </a:extLst>
          </p:cNvPr>
          <p:cNvSpPr txBox="1"/>
          <p:nvPr/>
        </p:nvSpPr>
        <p:spPr>
          <a:xfrm>
            <a:off x="2960061" y="6076534"/>
            <a:ext cx="6413863" cy="338554"/>
          </a:xfrm>
          <a:prstGeom prst="rect">
            <a:avLst/>
          </a:prstGeom>
          <a:noFill/>
        </p:spPr>
        <p:txBody>
          <a:bodyPr wrap="square" rtlCol="0">
            <a:spAutoFit/>
          </a:bodyPr>
          <a:lstStyle/>
          <a:p>
            <a:pPr algn="ctr"/>
            <a:r>
              <a:rPr lang="en-US" sz="1600" b="1" i="1" dirty="0">
                <a:solidFill>
                  <a:srgbClr val="CFCFCF"/>
                </a:solidFill>
                <a:latin typeface="Segoe UI" panose="020B0502040204020203" pitchFamily="34" charset="0"/>
                <a:cs typeface="Segoe UI" panose="020B0502040204020203" pitchFamily="34" charset="0"/>
              </a:rPr>
              <a:t>  From Raw Data to Actionable Insights</a:t>
            </a:r>
            <a:endParaRPr lang="en-IN" sz="1600" b="1" i="1" dirty="0">
              <a:solidFill>
                <a:srgbClr val="CFCFCF"/>
              </a:solidFill>
              <a:latin typeface="Segoe UI" panose="020B0502040204020203" pitchFamily="34" charset="0"/>
              <a:cs typeface="Segoe UI" panose="020B0502040204020203" pitchFamily="34" charset="0"/>
            </a:endParaRPr>
          </a:p>
        </p:txBody>
      </p:sp>
      <p:sp>
        <p:nvSpPr>
          <p:cNvPr id="16" name="Flowchart: Connector 15">
            <a:extLst>
              <a:ext uri="{FF2B5EF4-FFF2-40B4-BE49-F238E27FC236}">
                <a16:creationId xmlns:a16="http://schemas.microsoft.com/office/drawing/2014/main" id="{8D784A10-D947-989C-7114-53B247DD37AE}"/>
              </a:ext>
            </a:extLst>
          </p:cNvPr>
          <p:cNvSpPr/>
          <p:nvPr/>
        </p:nvSpPr>
        <p:spPr>
          <a:xfrm>
            <a:off x="4099419" y="6140848"/>
            <a:ext cx="215536" cy="209926"/>
          </a:xfrm>
          <a:prstGeom prst="flowChartConnector">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46329481"/>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D1954-13FD-C4BA-C04A-6843B44130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09425D-87B6-8BC9-DA1D-47744B403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8002AAF2-0E5A-D519-8E98-41335B3297F7}"/>
              </a:ext>
            </a:extLst>
          </p:cNvPr>
          <p:cNvSpPr txBox="1"/>
          <p:nvPr/>
        </p:nvSpPr>
        <p:spPr>
          <a:xfrm>
            <a:off x="2050661" y="1194193"/>
            <a:ext cx="1528770" cy="1569660"/>
          </a:xfrm>
          <a:prstGeom prst="rect">
            <a:avLst/>
          </a:prstGeom>
          <a:noFill/>
        </p:spPr>
        <p:txBody>
          <a:bodyPr wrap="square" rtlCol="0">
            <a:spAutoFit/>
          </a:bodyPr>
          <a:lstStyle/>
          <a:p>
            <a:r>
              <a:rPr lang="en-US" sz="9600" dirty="0">
                <a:solidFill>
                  <a:srgbClr val="FFE600"/>
                </a:solidFill>
              </a:rPr>
              <a:t>09</a:t>
            </a:r>
            <a:endParaRPr lang="en-IN" sz="9600" dirty="0">
              <a:solidFill>
                <a:srgbClr val="FFE600"/>
              </a:solidFill>
            </a:endParaRPr>
          </a:p>
        </p:txBody>
      </p:sp>
      <p:sp>
        <p:nvSpPr>
          <p:cNvPr id="6" name="Oval 5">
            <a:extLst>
              <a:ext uri="{FF2B5EF4-FFF2-40B4-BE49-F238E27FC236}">
                <a16:creationId xmlns:a16="http://schemas.microsoft.com/office/drawing/2014/main" id="{54919BA7-D530-5D6E-8371-77160CEE6829}"/>
              </a:ext>
            </a:extLst>
          </p:cNvPr>
          <p:cNvSpPr/>
          <p:nvPr/>
        </p:nvSpPr>
        <p:spPr>
          <a:xfrm>
            <a:off x="1463040" y="771768"/>
            <a:ext cx="2704012" cy="2495005"/>
          </a:xfrm>
          <a:prstGeom prst="ellipse">
            <a:avLst/>
          </a:prstGeom>
          <a:no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6B5DB6B-2BB1-1E8C-EBC1-6E838649B586}"/>
              </a:ext>
            </a:extLst>
          </p:cNvPr>
          <p:cNvSpPr txBox="1"/>
          <p:nvPr/>
        </p:nvSpPr>
        <p:spPr>
          <a:xfrm>
            <a:off x="1463040" y="3315266"/>
            <a:ext cx="5512525" cy="1446550"/>
          </a:xfrm>
          <a:prstGeom prst="rect">
            <a:avLst/>
          </a:prstGeom>
          <a:noFill/>
        </p:spPr>
        <p:txBody>
          <a:bodyPr wrap="square" rtlCol="0">
            <a:spAutoFit/>
          </a:bodyPr>
          <a:lstStyle/>
          <a:p>
            <a:endParaRPr lang="en-IN" sz="4400" dirty="0">
              <a:solidFill>
                <a:schemeClr val="bg1"/>
              </a:solidFill>
              <a:latin typeface="Segoe UI" panose="020B0502040204020203" pitchFamily="34" charset="0"/>
              <a:cs typeface="Segoe UI" panose="020B0502040204020203" pitchFamily="34" charset="0"/>
            </a:endParaRPr>
          </a:p>
          <a:p>
            <a:r>
              <a:rPr lang="en-IN" sz="4400" dirty="0">
                <a:solidFill>
                  <a:schemeClr val="bg1"/>
                </a:solidFill>
                <a:latin typeface="Segoe UI" panose="020B0502040204020203" pitchFamily="34" charset="0"/>
                <a:cs typeface="Segoe UI" panose="020B0502040204020203" pitchFamily="34" charset="0"/>
              </a:rPr>
              <a:t>CONCLUSION</a:t>
            </a:r>
          </a:p>
        </p:txBody>
      </p:sp>
      <p:sp>
        <p:nvSpPr>
          <p:cNvPr id="9" name="Rectangle 8">
            <a:extLst>
              <a:ext uri="{FF2B5EF4-FFF2-40B4-BE49-F238E27FC236}">
                <a16:creationId xmlns:a16="http://schemas.microsoft.com/office/drawing/2014/main" id="{159759DE-4788-0434-72C0-8ABE07A241FE}"/>
              </a:ext>
            </a:extLst>
          </p:cNvPr>
          <p:cNvSpPr/>
          <p:nvPr/>
        </p:nvSpPr>
        <p:spPr>
          <a:xfrm flipV="1">
            <a:off x="1567543" y="4810309"/>
            <a:ext cx="463296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5201E32-8317-45BD-D58C-EA979538050A}"/>
              </a:ext>
            </a:extLst>
          </p:cNvPr>
          <p:cNvSpPr txBox="1"/>
          <p:nvPr/>
        </p:nvSpPr>
        <p:spPr>
          <a:xfrm>
            <a:off x="1463040" y="4984050"/>
            <a:ext cx="9353006" cy="584775"/>
          </a:xfrm>
          <a:prstGeom prst="rect">
            <a:avLst/>
          </a:prstGeom>
          <a:noFill/>
        </p:spPr>
        <p:txBody>
          <a:bodyPr wrap="square" rtlCol="0">
            <a:spAutoFit/>
          </a:bodyPr>
          <a:lstStyle/>
          <a:p>
            <a:r>
              <a:rPr lang="en-US" sz="1600" dirty="0">
                <a:solidFill>
                  <a:srgbClr val="CFCFCF"/>
                </a:solidFill>
                <a:latin typeface="Segoe UI" panose="020B0502040204020203" pitchFamily="34" charset="0"/>
                <a:cs typeface="Segoe UI" panose="020B0502040204020203" pitchFamily="34" charset="0"/>
              </a:rPr>
              <a:t>Summarizing key outcomes and insights derived from data transformation, analysis, and visualization. Data Transformation | Analysis | Insights | Decision Making</a:t>
            </a:r>
            <a:endParaRPr lang="en-IN" sz="1600" dirty="0">
              <a:solidFill>
                <a:srgbClr val="CFCFCF"/>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54452895"/>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CFA8A-12B4-C9BD-9541-69E72459EB3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EE1BFC-218E-E87A-8464-6C3AC608F153}"/>
              </a:ext>
            </a:extLst>
          </p:cNvPr>
          <p:cNvSpPr txBox="1"/>
          <p:nvPr/>
        </p:nvSpPr>
        <p:spPr>
          <a:xfrm>
            <a:off x="130628" y="45719"/>
            <a:ext cx="7667897" cy="707886"/>
          </a:xfrm>
          <a:prstGeom prst="rect">
            <a:avLst/>
          </a:prstGeom>
          <a:noFill/>
        </p:spPr>
        <p:txBody>
          <a:bodyPr wrap="square" rtlCol="0">
            <a:spAutoFit/>
          </a:bodyPr>
          <a:lstStyle/>
          <a:p>
            <a:r>
              <a:rPr lang="en-IN" sz="4000" dirty="0">
                <a:solidFill>
                  <a:schemeClr val="bg1"/>
                </a:solidFill>
              </a:rPr>
              <a:t>CONCLUSION</a:t>
            </a:r>
          </a:p>
        </p:txBody>
      </p:sp>
      <p:sp>
        <p:nvSpPr>
          <p:cNvPr id="8" name="Rectangle 7">
            <a:extLst>
              <a:ext uri="{FF2B5EF4-FFF2-40B4-BE49-F238E27FC236}">
                <a16:creationId xmlns:a16="http://schemas.microsoft.com/office/drawing/2014/main" id="{907E142F-3BFA-4E93-9255-D6380D404C12}"/>
              </a:ext>
            </a:extLst>
          </p:cNvPr>
          <p:cNvSpPr/>
          <p:nvPr/>
        </p:nvSpPr>
        <p:spPr>
          <a:xfrm flipV="1">
            <a:off x="248195" y="730740"/>
            <a:ext cx="2826310" cy="45719"/>
          </a:xfrm>
          <a:prstGeom prst="rect">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8D4C2857-01B1-CE46-9D0D-DA99F2F5D0E6}"/>
              </a:ext>
            </a:extLst>
          </p:cNvPr>
          <p:cNvSpPr txBox="1"/>
          <p:nvPr/>
        </p:nvSpPr>
        <p:spPr>
          <a:xfrm>
            <a:off x="3366053" y="3942934"/>
            <a:ext cx="6413863" cy="338554"/>
          </a:xfrm>
          <a:prstGeom prst="rect">
            <a:avLst/>
          </a:prstGeom>
          <a:noFill/>
        </p:spPr>
        <p:txBody>
          <a:bodyPr wrap="square" rtlCol="0">
            <a:spAutoFit/>
          </a:bodyPr>
          <a:lstStyle/>
          <a:p>
            <a:pPr algn="ctr"/>
            <a:r>
              <a:rPr lang="en-US" sz="1600" b="1" i="1" dirty="0">
                <a:solidFill>
                  <a:srgbClr val="CFCFCF"/>
                </a:solidFill>
                <a:latin typeface="Segoe UI" panose="020B0502040204020203" pitchFamily="34" charset="0"/>
                <a:cs typeface="Segoe UI" panose="020B0502040204020203" pitchFamily="34" charset="0"/>
              </a:rPr>
              <a:t>  From Raw Data to Actionable Insights</a:t>
            </a:r>
            <a:endParaRPr lang="en-IN" sz="1600" b="1" i="1" dirty="0">
              <a:solidFill>
                <a:srgbClr val="CFCFCF"/>
              </a:solidFill>
              <a:latin typeface="Segoe UI" panose="020B0502040204020203" pitchFamily="34" charset="0"/>
              <a:cs typeface="Segoe UI" panose="020B0502040204020203" pitchFamily="34" charset="0"/>
            </a:endParaRPr>
          </a:p>
        </p:txBody>
      </p:sp>
      <p:sp>
        <p:nvSpPr>
          <p:cNvPr id="16" name="Flowchart: Connector 15">
            <a:extLst>
              <a:ext uri="{FF2B5EF4-FFF2-40B4-BE49-F238E27FC236}">
                <a16:creationId xmlns:a16="http://schemas.microsoft.com/office/drawing/2014/main" id="{29A98855-1CCA-BA24-1785-0250935FA8BA}"/>
              </a:ext>
            </a:extLst>
          </p:cNvPr>
          <p:cNvSpPr/>
          <p:nvPr/>
        </p:nvSpPr>
        <p:spPr>
          <a:xfrm>
            <a:off x="4477910" y="4007248"/>
            <a:ext cx="215536" cy="209926"/>
          </a:xfrm>
          <a:prstGeom prst="flowChartConnector">
            <a:avLst/>
          </a:prstGeom>
          <a:solidFill>
            <a:srgbClr val="FFE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17C630EF-A558-ADEC-7716-4532C4DC9F7C}"/>
              </a:ext>
            </a:extLst>
          </p:cNvPr>
          <p:cNvSpPr txBox="1"/>
          <p:nvPr/>
        </p:nvSpPr>
        <p:spPr>
          <a:xfrm>
            <a:off x="0" y="954157"/>
            <a:ext cx="12192000" cy="2533707"/>
          </a:xfrm>
          <a:prstGeom prst="rect">
            <a:avLst/>
          </a:prstGeom>
          <a:noFill/>
        </p:spPr>
        <p:txBody>
          <a:bodyPr wrap="square" rtlCol="0">
            <a:spAutoFit/>
          </a:bodyPr>
          <a:lstStyle/>
          <a:p>
            <a:pPr algn="just">
              <a:lnSpc>
                <a:spcPct val="150000"/>
              </a:lnSpc>
            </a:pPr>
            <a:r>
              <a:rPr lang="en-US" dirty="0">
                <a:solidFill>
                  <a:srgbClr val="E6E6E6"/>
                </a:solidFill>
                <a:latin typeface="Segoe UI" panose="020B0502040204020203" pitchFamily="34" charset="0"/>
                <a:cs typeface="Segoe UI" panose="020B0502040204020203" pitchFamily="34" charset="0"/>
              </a:rPr>
              <a:t>Bringing together the entire data journey, this project highlights how raw insurance data was transformed into structured, reliable, and analysis-ready datasets. </a:t>
            </a:r>
          </a:p>
          <a:p>
            <a:pPr algn="just">
              <a:lnSpc>
                <a:spcPct val="150000"/>
              </a:lnSpc>
            </a:pPr>
            <a:endParaRPr lang="en-US" dirty="0">
              <a:solidFill>
                <a:srgbClr val="E6E6E6"/>
              </a:solidFill>
              <a:latin typeface="Segoe UI" panose="020B0502040204020203" pitchFamily="34" charset="0"/>
              <a:cs typeface="Segoe UI" panose="020B0502040204020203" pitchFamily="34" charset="0"/>
            </a:endParaRPr>
          </a:p>
          <a:p>
            <a:pPr algn="just">
              <a:lnSpc>
                <a:spcPct val="150000"/>
              </a:lnSpc>
            </a:pPr>
            <a:r>
              <a:rPr lang="en-US" dirty="0">
                <a:solidFill>
                  <a:srgbClr val="E6E6E6"/>
                </a:solidFill>
                <a:latin typeface="Segoe UI" panose="020B0502040204020203" pitchFamily="34" charset="0"/>
                <a:cs typeface="Segoe UI" panose="020B0502040204020203" pitchFamily="34" charset="0"/>
              </a:rPr>
              <a:t>Through systematic data cleaning, transformation, modeling, and validation, meaningful patterns were uncovered. Leveraging interactive dashboards, the analysis provided clear insights into customer behavior, vehicle trends, and claim patterns, ultimately enabling informed and data-driven business decision making.</a:t>
            </a:r>
            <a:endParaRPr lang="en-IN" dirty="0">
              <a:solidFill>
                <a:srgbClr val="E6E6E6"/>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05574609"/>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D3FF-7166-F4E5-3551-E04B243B1DF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C915E7-111F-3132-E9D3-C54F0A7BD3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504"/>
            <a:ext cx="12192000" cy="6858000"/>
          </a:xfrm>
          <a:prstGeom prst="rect">
            <a:avLst/>
          </a:prstGeom>
        </p:spPr>
      </p:pic>
      <p:sp>
        <p:nvSpPr>
          <p:cNvPr id="7" name="Oval 6">
            <a:extLst>
              <a:ext uri="{FF2B5EF4-FFF2-40B4-BE49-F238E27FC236}">
                <a16:creationId xmlns:a16="http://schemas.microsoft.com/office/drawing/2014/main" id="{35A04AC0-9C31-2677-4475-DE37AC7298BB}"/>
              </a:ext>
            </a:extLst>
          </p:cNvPr>
          <p:cNvSpPr/>
          <p:nvPr/>
        </p:nvSpPr>
        <p:spPr>
          <a:xfrm>
            <a:off x="755374" y="556591"/>
            <a:ext cx="4134678" cy="3498574"/>
          </a:xfrm>
          <a:prstGeom prst="ellipse">
            <a:avLst/>
          </a:prstGeom>
          <a:solidFill>
            <a:schemeClr val="tx1">
              <a:alpha val="50000"/>
            </a:schemeClr>
          </a:solidFill>
          <a:ln w="38100">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DFD7A637-19C0-22A3-03B6-FF4A1745C457}"/>
              </a:ext>
            </a:extLst>
          </p:cNvPr>
          <p:cNvSpPr txBox="1"/>
          <p:nvPr/>
        </p:nvSpPr>
        <p:spPr>
          <a:xfrm>
            <a:off x="755374" y="2014329"/>
            <a:ext cx="4134678" cy="830997"/>
          </a:xfrm>
          <a:prstGeom prst="rect">
            <a:avLst/>
          </a:prstGeom>
          <a:noFill/>
        </p:spPr>
        <p:txBody>
          <a:bodyPr wrap="square" rtlCol="0">
            <a:spAutoFit/>
          </a:bodyPr>
          <a:lstStyle/>
          <a:p>
            <a:pPr algn="ctr"/>
            <a:r>
              <a:rPr lang="en-IN" sz="4800" b="1" dirty="0">
                <a:solidFill>
                  <a:schemeClr val="bg1"/>
                </a:solidFill>
                <a:latin typeface="Segoe UI" panose="020B0502040204020203" pitchFamily="34" charset="0"/>
                <a:cs typeface="Segoe UI" panose="020B0502040204020203" pitchFamily="34" charset="0"/>
              </a:rPr>
              <a:t>Thank You</a:t>
            </a:r>
          </a:p>
        </p:txBody>
      </p:sp>
    </p:spTree>
    <p:extLst>
      <p:ext uri="{BB962C8B-B14F-4D97-AF65-F5344CB8AC3E}">
        <p14:creationId xmlns:p14="http://schemas.microsoft.com/office/powerpoint/2010/main" val="949120955"/>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1085</TotalTime>
  <Words>833</Words>
  <Application>Microsoft Office PowerPoint</Application>
  <PresentationFormat>Widescreen</PresentationFormat>
  <Paragraphs>185</Paragraphs>
  <Slides>20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Suhani Sahoo</dc:creator>
  <cp:lastModifiedBy>Suhani Sahoo</cp:lastModifiedBy>
  <cp:revision>19</cp:revision>
  <dcterms:created xsi:type="dcterms:W3CDTF">2026-04-12T11:59:02Z</dcterms:created>
  <dcterms:modified xsi:type="dcterms:W3CDTF">2026-04-18T19:21:36Z</dcterms:modified>
</cp:coreProperties>
</file>